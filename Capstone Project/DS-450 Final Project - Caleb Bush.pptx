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9" r:id="rId13"/>
    <p:sldId id="273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192724-E527-4062-BA83-D201062F8F83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044A95A-0AB4-44FB-AE0D-5EF60DCE5FEB}">
      <dgm:prSet/>
      <dgm:spPr>
        <a:solidFill>
          <a:schemeClr val="accent1"/>
        </a:solidFill>
      </dgm:spPr>
      <dgm:t>
        <a:bodyPr/>
        <a:lstStyle/>
        <a:p>
          <a:r>
            <a:rPr lang="en-US" dirty="0"/>
            <a:t>33 Original Variables</a:t>
          </a:r>
        </a:p>
      </dgm:t>
    </dgm:pt>
    <dgm:pt modelId="{AFE33205-0F04-444C-8C0D-694969C89FE2}" type="parTrans" cxnId="{9991C3D0-E5A1-4CFE-8525-375D63BD2097}">
      <dgm:prSet/>
      <dgm:spPr/>
      <dgm:t>
        <a:bodyPr/>
        <a:lstStyle/>
        <a:p>
          <a:endParaRPr lang="en-US"/>
        </a:p>
      </dgm:t>
    </dgm:pt>
    <dgm:pt modelId="{BE6E0E9D-ADA5-4B74-B195-46349D482055}" type="sibTrans" cxnId="{9991C3D0-E5A1-4CFE-8525-375D63BD2097}">
      <dgm:prSet/>
      <dgm:spPr/>
      <dgm:t>
        <a:bodyPr/>
        <a:lstStyle/>
        <a:p>
          <a:endParaRPr lang="en-US"/>
        </a:p>
      </dgm:t>
    </dgm:pt>
    <dgm:pt modelId="{84D33720-CEAC-49F9-90AE-F7FEEF716E60}">
      <dgm:prSet/>
      <dgm:spPr>
        <a:solidFill>
          <a:schemeClr val="accent1"/>
        </a:solidFill>
      </dgm:spPr>
      <dgm:t>
        <a:bodyPr/>
        <a:lstStyle/>
        <a:p>
          <a:r>
            <a:rPr lang="en-US"/>
            <a:t>3043 Rows</a:t>
          </a:r>
        </a:p>
      </dgm:t>
    </dgm:pt>
    <dgm:pt modelId="{6B0D0C12-0CB6-405D-9C26-2EC19E06BC3C}" type="parTrans" cxnId="{AE211F82-A198-4A1A-9CB4-E0F63FC7C41A}">
      <dgm:prSet/>
      <dgm:spPr/>
      <dgm:t>
        <a:bodyPr/>
        <a:lstStyle/>
        <a:p>
          <a:endParaRPr lang="en-US"/>
        </a:p>
      </dgm:t>
    </dgm:pt>
    <dgm:pt modelId="{1BEF6017-4296-4866-9040-4DC1AF45932D}" type="sibTrans" cxnId="{AE211F82-A198-4A1A-9CB4-E0F63FC7C41A}">
      <dgm:prSet/>
      <dgm:spPr/>
      <dgm:t>
        <a:bodyPr/>
        <a:lstStyle/>
        <a:p>
          <a:endParaRPr lang="en-US"/>
        </a:p>
      </dgm:t>
    </dgm:pt>
    <dgm:pt modelId="{843BAC3A-1A23-4D02-A15E-0885AF2B1B21}">
      <dgm:prSet/>
      <dgm:spPr>
        <a:solidFill>
          <a:schemeClr val="accent1"/>
        </a:solidFill>
      </dgm:spPr>
      <dgm:t>
        <a:bodyPr/>
        <a:lstStyle/>
        <a:p>
          <a:r>
            <a:rPr lang="en-US"/>
            <a:t>Not too many missing values</a:t>
          </a:r>
        </a:p>
      </dgm:t>
    </dgm:pt>
    <dgm:pt modelId="{5A477EC7-D161-4D0D-9E7D-E71E0575192A}" type="parTrans" cxnId="{B459AA65-51EE-4FEC-8B08-328A58CECBAE}">
      <dgm:prSet/>
      <dgm:spPr/>
      <dgm:t>
        <a:bodyPr/>
        <a:lstStyle/>
        <a:p>
          <a:endParaRPr lang="en-US"/>
        </a:p>
      </dgm:t>
    </dgm:pt>
    <dgm:pt modelId="{1BE61033-6E61-4A51-8978-3F09CBD17C69}" type="sibTrans" cxnId="{B459AA65-51EE-4FEC-8B08-328A58CECBAE}">
      <dgm:prSet/>
      <dgm:spPr/>
      <dgm:t>
        <a:bodyPr/>
        <a:lstStyle/>
        <a:p>
          <a:endParaRPr lang="en-US"/>
        </a:p>
      </dgm:t>
    </dgm:pt>
    <dgm:pt modelId="{A76231FE-ED1E-4B52-83F5-8E52222D8FBD}">
      <dgm:prSet/>
      <dgm:spPr>
        <a:solidFill>
          <a:schemeClr val="accent1"/>
        </a:solidFill>
      </dgm:spPr>
      <dgm:t>
        <a:bodyPr/>
        <a:lstStyle/>
        <a:p>
          <a:r>
            <a:rPr lang="en-US"/>
            <a:t>Had multiple unnecessary variables</a:t>
          </a:r>
        </a:p>
      </dgm:t>
    </dgm:pt>
    <dgm:pt modelId="{D8691406-3157-402E-A9AE-7A2107B6AE76}" type="parTrans" cxnId="{B5A7B726-498B-4F84-A7CE-3D1164228DDB}">
      <dgm:prSet/>
      <dgm:spPr/>
      <dgm:t>
        <a:bodyPr/>
        <a:lstStyle/>
        <a:p>
          <a:endParaRPr lang="en-US"/>
        </a:p>
      </dgm:t>
    </dgm:pt>
    <dgm:pt modelId="{CCA5AEB5-FCF3-4088-BE36-1ECA2A3F9BA1}" type="sibTrans" cxnId="{B5A7B726-498B-4F84-A7CE-3D1164228DDB}">
      <dgm:prSet/>
      <dgm:spPr/>
      <dgm:t>
        <a:bodyPr/>
        <a:lstStyle/>
        <a:p>
          <a:endParaRPr lang="en-US"/>
        </a:p>
      </dgm:t>
    </dgm:pt>
    <dgm:pt modelId="{9E95248E-5F37-4787-AE46-095A35E4DDFC}" type="pres">
      <dgm:prSet presAssocID="{B2192724-E527-4062-BA83-D201062F8F83}" presName="linear" presStyleCnt="0">
        <dgm:presLayoutVars>
          <dgm:dir/>
          <dgm:animLvl val="lvl"/>
          <dgm:resizeHandles val="exact"/>
        </dgm:presLayoutVars>
      </dgm:prSet>
      <dgm:spPr/>
    </dgm:pt>
    <dgm:pt modelId="{AF5BF853-02C7-499C-8183-D291202BE9CE}" type="pres">
      <dgm:prSet presAssocID="{4044A95A-0AB4-44FB-AE0D-5EF60DCE5FEB}" presName="parentLin" presStyleCnt="0"/>
      <dgm:spPr/>
    </dgm:pt>
    <dgm:pt modelId="{8409875E-5104-469E-9FC3-7B20B582A98B}" type="pres">
      <dgm:prSet presAssocID="{4044A95A-0AB4-44FB-AE0D-5EF60DCE5FEB}" presName="parentLeftMargin" presStyleLbl="node1" presStyleIdx="0" presStyleCnt="4"/>
      <dgm:spPr/>
    </dgm:pt>
    <dgm:pt modelId="{7283DB00-577C-4095-A201-C049E049448F}" type="pres">
      <dgm:prSet presAssocID="{4044A95A-0AB4-44FB-AE0D-5EF60DCE5F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EDF967-7AEE-4001-9917-4382CF818D1B}" type="pres">
      <dgm:prSet presAssocID="{4044A95A-0AB4-44FB-AE0D-5EF60DCE5FEB}" presName="negativeSpace" presStyleCnt="0"/>
      <dgm:spPr/>
    </dgm:pt>
    <dgm:pt modelId="{9674CA8C-D173-445A-9428-964B5BDBF6E5}" type="pres">
      <dgm:prSet presAssocID="{4044A95A-0AB4-44FB-AE0D-5EF60DCE5FEB}" presName="childText" presStyleLbl="conFgAcc1" presStyleIdx="0" presStyleCnt="4">
        <dgm:presLayoutVars>
          <dgm:bulletEnabled val="1"/>
        </dgm:presLayoutVars>
      </dgm:prSet>
      <dgm:spPr/>
    </dgm:pt>
    <dgm:pt modelId="{1A894881-33C9-4D48-9DC1-272EC6E11FCC}" type="pres">
      <dgm:prSet presAssocID="{BE6E0E9D-ADA5-4B74-B195-46349D482055}" presName="spaceBetweenRectangles" presStyleCnt="0"/>
      <dgm:spPr/>
    </dgm:pt>
    <dgm:pt modelId="{A600C818-EF3F-43AB-8CFD-4295916970D3}" type="pres">
      <dgm:prSet presAssocID="{84D33720-CEAC-49F9-90AE-F7FEEF716E60}" presName="parentLin" presStyleCnt="0"/>
      <dgm:spPr/>
    </dgm:pt>
    <dgm:pt modelId="{89200A6D-49B7-41EE-A174-767D7C2BDA14}" type="pres">
      <dgm:prSet presAssocID="{84D33720-CEAC-49F9-90AE-F7FEEF716E60}" presName="parentLeftMargin" presStyleLbl="node1" presStyleIdx="0" presStyleCnt="4"/>
      <dgm:spPr/>
    </dgm:pt>
    <dgm:pt modelId="{6EF9520D-ABFD-4F40-A017-301696541529}" type="pres">
      <dgm:prSet presAssocID="{84D33720-CEAC-49F9-90AE-F7FEEF716E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D95E82-A46E-4972-B3F9-08C2C6F4B2E8}" type="pres">
      <dgm:prSet presAssocID="{84D33720-CEAC-49F9-90AE-F7FEEF716E60}" presName="negativeSpace" presStyleCnt="0"/>
      <dgm:spPr/>
    </dgm:pt>
    <dgm:pt modelId="{A41379A1-F90A-46C6-88C4-D6E03024537E}" type="pres">
      <dgm:prSet presAssocID="{84D33720-CEAC-49F9-90AE-F7FEEF716E60}" presName="childText" presStyleLbl="conFgAcc1" presStyleIdx="1" presStyleCnt="4">
        <dgm:presLayoutVars>
          <dgm:bulletEnabled val="1"/>
        </dgm:presLayoutVars>
      </dgm:prSet>
      <dgm:spPr/>
    </dgm:pt>
    <dgm:pt modelId="{11EFD5BE-FF1B-42D6-94C7-9DAEDE988BC3}" type="pres">
      <dgm:prSet presAssocID="{1BEF6017-4296-4866-9040-4DC1AF45932D}" presName="spaceBetweenRectangles" presStyleCnt="0"/>
      <dgm:spPr/>
    </dgm:pt>
    <dgm:pt modelId="{5D983AC0-D2F0-4FDD-99DF-F833827CF49C}" type="pres">
      <dgm:prSet presAssocID="{843BAC3A-1A23-4D02-A15E-0885AF2B1B21}" presName="parentLin" presStyleCnt="0"/>
      <dgm:spPr/>
    </dgm:pt>
    <dgm:pt modelId="{BEBF9352-3CFF-4A39-A5E6-D9603DBAB84A}" type="pres">
      <dgm:prSet presAssocID="{843BAC3A-1A23-4D02-A15E-0885AF2B1B21}" presName="parentLeftMargin" presStyleLbl="node1" presStyleIdx="1" presStyleCnt="4"/>
      <dgm:spPr/>
    </dgm:pt>
    <dgm:pt modelId="{B2DF18CA-74B9-481F-9670-3A71796A4EBA}" type="pres">
      <dgm:prSet presAssocID="{843BAC3A-1A23-4D02-A15E-0885AF2B1B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14E974-B84C-4D52-A7FD-29111A533D60}" type="pres">
      <dgm:prSet presAssocID="{843BAC3A-1A23-4D02-A15E-0885AF2B1B21}" presName="negativeSpace" presStyleCnt="0"/>
      <dgm:spPr/>
    </dgm:pt>
    <dgm:pt modelId="{7DC323B3-EBAE-4F5D-B4AA-7E03F8E50A94}" type="pres">
      <dgm:prSet presAssocID="{843BAC3A-1A23-4D02-A15E-0885AF2B1B21}" presName="childText" presStyleLbl="conFgAcc1" presStyleIdx="2" presStyleCnt="4">
        <dgm:presLayoutVars>
          <dgm:bulletEnabled val="1"/>
        </dgm:presLayoutVars>
      </dgm:prSet>
      <dgm:spPr/>
    </dgm:pt>
    <dgm:pt modelId="{7F8E4FFD-AD16-4936-9D7D-FF7E2CBC09B1}" type="pres">
      <dgm:prSet presAssocID="{1BE61033-6E61-4A51-8978-3F09CBD17C69}" presName="spaceBetweenRectangles" presStyleCnt="0"/>
      <dgm:spPr/>
    </dgm:pt>
    <dgm:pt modelId="{6E65D60D-F460-4ABB-AFE4-8C2FB6C86067}" type="pres">
      <dgm:prSet presAssocID="{A76231FE-ED1E-4B52-83F5-8E52222D8FBD}" presName="parentLin" presStyleCnt="0"/>
      <dgm:spPr/>
    </dgm:pt>
    <dgm:pt modelId="{60009EB6-ED2F-4B0C-834F-5AAAF3EDAE04}" type="pres">
      <dgm:prSet presAssocID="{A76231FE-ED1E-4B52-83F5-8E52222D8FBD}" presName="parentLeftMargin" presStyleLbl="node1" presStyleIdx="2" presStyleCnt="4"/>
      <dgm:spPr/>
    </dgm:pt>
    <dgm:pt modelId="{02CC5C40-53FC-451D-807E-1BEE70280DDE}" type="pres">
      <dgm:prSet presAssocID="{A76231FE-ED1E-4B52-83F5-8E52222D8FB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4D079EC-7A10-4C63-92C2-3E537C2C85FC}" type="pres">
      <dgm:prSet presAssocID="{A76231FE-ED1E-4B52-83F5-8E52222D8FBD}" presName="negativeSpace" presStyleCnt="0"/>
      <dgm:spPr/>
    </dgm:pt>
    <dgm:pt modelId="{F346437E-6B39-4441-82D8-740D937E6FB9}" type="pres">
      <dgm:prSet presAssocID="{A76231FE-ED1E-4B52-83F5-8E52222D8FB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9929B0D-C678-448F-B24A-3AC4B28FFEB7}" type="presOf" srcId="{4044A95A-0AB4-44FB-AE0D-5EF60DCE5FEB}" destId="{8409875E-5104-469E-9FC3-7B20B582A98B}" srcOrd="0" destOrd="0" presId="urn:microsoft.com/office/officeart/2005/8/layout/list1"/>
    <dgm:cxn modelId="{B5A7B726-498B-4F84-A7CE-3D1164228DDB}" srcId="{B2192724-E527-4062-BA83-D201062F8F83}" destId="{A76231FE-ED1E-4B52-83F5-8E52222D8FBD}" srcOrd="3" destOrd="0" parTransId="{D8691406-3157-402E-A9AE-7A2107B6AE76}" sibTransId="{CCA5AEB5-FCF3-4088-BE36-1ECA2A3F9BA1}"/>
    <dgm:cxn modelId="{668F0727-5F22-439E-AB96-5664066D7899}" type="presOf" srcId="{A76231FE-ED1E-4B52-83F5-8E52222D8FBD}" destId="{60009EB6-ED2F-4B0C-834F-5AAAF3EDAE04}" srcOrd="0" destOrd="0" presId="urn:microsoft.com/office/officeart/2005/8/layout/list1"/>
    <dgm:cxn modelId="{C525F53C-B325-419C-A91F-03A6E42734A4}" type="presOf" srcId="{843BAC3A-1A23-4D02-A15E-0885AF2B1B21}" destId="{B2DF18CA-74B9-481F-9670-3A71796A4EBA}" srcOrd="1" destOrd="0" presId="urn:microsoft.com/office/officeart/2005/8/layout/list1"/>
    <dgm:cxn modelId="{B459AA65-51EE-4FEC-8B08-328A58CECBAE}" srcId="{B2192724-E527-4062-BA83-D201062F8F83}" destId="{843BAC3A-1A23-4D02-A15E-0885AF2B1B21}" srcOrd="2" destOrd="0" parTransId="{5A477EC7-D161-4D0D-9E7D-E71E0575192A}" sibTransId="{1BE61033-6E61-4A51-8978-3F09CBD17C69}"/>
    <dgm:cxn modelId="{E6B39648-7374-4260-973B-76F97161A2C6}" type="presOf" srcId="{4044A95A-0AB4-44FB-AE0D-5EF60DCE5FEB}" destId="{7283DB00-577C-4095-A201-C049E049448F}" srcOrd="1" destOrd="0" presId="urn:microsoft.com/office/officeart/2005/8/layout/list1"/>
    <dgm:cxn modelId="{6AA41C74-9EF2-4A28-BB87-6560A481B9FE}" type="presOf" srcId="{84D33720-CEAC-49F9-90AE-F7FEEF716E60}" destId="{89200A6D-49B7-41EE-A174-767D7C2BDA14}" srcOrd="0" destOrd="0" presId="urn:microsoft.com/office/officeart/2005/8/layout/list1"/>
    <dgm:cxn modelId="{5A1C7A7A-5378-40AF-B2EF-B05C4BAB2AC4}" type="presOf" srcId="{84D33720-CEAC-49F9-90AE-F7FEEF716E60}" destId="{6EF9520D-ABFD-4F40-A017-301696541529}" srcOrd="1" destOrd="0" presId="urn:microsoft.com/office/officeart/2005/8/layout/list1"/>
    <dgm:cxn modelId="{AE211F82-A198-4A1A-9CB4-E0F63FC7C41A}" srcId="{B2192724-E527-4062-BA83-D201062F8F83}" destId="{84D33720-CEAC-49F9-90AE-F7FEEF716E60}" srcOrd="1" destOrd="0" parTransId="{6B0D0C12-0CB6-405D-9C26-2EC19E06BC3C}" sibTransId="{1BEF6017-4296-4866-9040-4DC1AF45932D}"/>
    <dgm:cxn modelId="{747E3382-1918-452E-BDA9-3A5EE4503177}" type="presOf" srcId="{843BAC3A-1A23-4D02-A15E-0885AF2B1B21}" destId="{BEBF9352-3CFF-4A39-A5E6-D9603DBAB84A}" srcOrd="0" destOrd="0" presId="urn:microsoft.com/office/officeart/2005/8/layout/list1"/>
    <dgm:cxn modelId="{6A732A95-74E1-46DC-A701-0A4FDF717841}" type="presOf" srcId="{B2192724-E527-4062-BA83-D201062F8F83}" destId="{9E95248E-5F37-4787-AE46-095A35E4DDFC}" srcOrd="0" destOrd="0" presId="urn:microsoft.com/office/officeart/2005/8/layout/list1"/>
    <dgm:cxn modelId="{16B49BC7-DC23-4E0C-A4FD-7E804BAE236A}" type="presOf" srcId="{A76231FE-ED1E-4B52-83F5-8E52222D8FBD}" destId="{02CC5C40-53FC-451D-807E-1BEE70280DDE}" srcOrd="1" destOrd="0" presId="urn:microsoft.com/office/officeart/2005/8/layout/list1"/>
    <dgm:cxn modelId="{9991C3D0-E5A1-4CFE-8525-375D63BD2097}" srcId="{B2192724-E527-4062-BA83-D201062F8F83}" destId="{4044A95A-0AB4-44FB-AE0D-5EF60DCE5FEB}" srcOrd="0" destOrd="0" parTransId="{AFE33205-0F04-444C-8C0D-694969C89FE2}" sibTransId="{BE6E0E9D-ADA5-4B74-B195-46349D482055}"/>
    <dgm:cxn modelId="{533389C8-93D7-45C2-AE95-16CB4612EBE8}" type="presParOf" srcId="{9E95248E-5F37-4787-AE46-095A35E4DDFC}" destId="{AF5BF853-02C7-499C-8183-D291202BE9CE}" srcOrd="0" destOrd="0" presId="urn:microsoft.com/office/officeart/2005/8/layout/list1"/>
    <dgm:cxn modelId="{88287B79-B2F3-4FD4-9E2B-28E95616A494}" type="presParOf" srcId="{AF5BF853-02C7-499C-8183-D291202BE9CE}" destId="{8409875E-5104-469E-9FC3-7B20B582A98B}" srcOrd="0" destOrd="0" presId="urn:microsoft.com/office/officeart/2005/8/layout/list1"/>
    <dgm:cxn modelId="{CF6847E6-DCB7-4EF1-8297-DD4065B7C725}" type="presParOf" srcId="{AF5BF853-02C7-499C-8183-D291202BE9CE}" destId="{7283DB00-577C-4095-A201-C049E049448F}" srcOrd="1" destOrd="0" presId="urn:microsoft.com/office/officeart/2005/8/layout/list1"/>
    <dgm:cxn modelId="{C7C8E968-36F2-4195-AB99-408022060620}" type="presParOf" srcId="{9E95248E-5F37-4787-AE46-095A35E4DDFC}" destId="{8CEDF967-7AEE-4001-9917-4382CF818D1B}" srcOrd="1" destOrd="0" presId="urn:microsoft.com/office/officeart/2005/8/layout/list1"/>
    <dgm:cxn modelId="{DB91CD18-EE33-4A5E-B225-0D1207970D9B}" type="presParOf" srcId="{9E95248E-5F37-4787-AE46-095A35E4DDFC}" destId="{9674CA8C-D173-445A-9428-964B5BDBF6E5}" srcOrd="2" destOrd="0" presId="urn:microsoft.com/office/officeart/2005/8/layout/list1"/>
    <dgm:cxn modelId="{1A0CA114-C2AE-443A-988B-7CCC46C24EB1}" type="presParOf" srcId="{9E95248E-5F37-4787-AE46-095A35E4DDFC}" destId="{1A894881-33C9-4D48-9DC1-272EC6E11FCC}" srcOrd="3" destOrd="0" presId="urn:microsoft.com/office/officeart/2005/8/layout/list1"/>
    <dgm:cxn modelId="{496A963B-9FA1-49A1-A96B-664E0215E5D3}" type="presParOf" srcId="{9E95248E-5F37-4787-AE46-095A35E4DDFC}" destId="{A600C818-EF3F-43AB-8CFD-4295916970D3}" srcOrd="4" destOrd="0" presId="urn:microsoft.com/office/officeart/2005/8/layout/list1"/>
    <dgm:cxn modelId="{767B2DE3-868F-444B-9A82-B927AB6450B3}" type="presParOf" srcId="{A600C818-EF3F-43AB-8CFD-4295916970D3}" destId="{89200A6D-49B7-41EE-A174-767D7C2BDA14}" srcOrd="0" destOrd="0" presId="urn:microsoft.com/office/officeart/2005/8/layout/list1"/>
    <dgm:cxn modelId="{AA454CCB-FCF9-41D6-A9B4-B9F05A1FB443}" type="presParOf" srcId="{A600C818-EF3F-43AB-8CFD-4295916970D3}" destId="{6EF9520D-ABFD-4F40-A017-301696541529}" srcOrd="1" destOrd="0" presId="urn:microsoft.com/office/officeart/2005/8/layout/list1"/>
    <dgm:cxn modelId="{5A6BC00B-A2A9-4AFD-864C-0D186F28192A}" type="presParOf" srcId="{9E95248E-5F37-4787-AE46-095A35E4DDFC}" destId="{1ED95E82-A46E-4972-B3F9-08C2C6F4B2E8}" srcOrd="5" destOrd="0" presId="urn:microsoft.com/office/officeart/2005/8/layout/list1"/>
    <dgm:cxn modelId="{14148987-1C98-4F7C-9943-BBE951D3CEF8}" type="presParOf" srcId="{9E95248E-5F37-4787-AE46-095A35E4DDFC}" destId="{A41379A1-F90A-46C6-88C4-D6E03024537E}" srcOrd="6" destOrd="0" presId="urn:microsoft.com/office/officeart/2005/8/layout/list1"/>
    <dgm:cxn modelId="{E358F2DA-BBC2-4623-9CE0-E8FAD2715C26}" type="presParOf" srcId="{9E95248E-5F37-4787-AE46-095A35E4DDFC}" destId="{11EFD5BE-FF1B-42D6-94C7-9DAEDE988BC3}" srcOrd="7" destOrd="0" presId="urn:microsoft.com/office/officeart/2005/8/layout/list1"/>
    <dgm:cxn modelId="{EC10F02A-B48B-4D7F-99F1-8964ECF556FC}" type="presParOf" srcId="{9E95248E-5F37-4787-AE46-095A35E4DDFC}" destId="{5D983AC0-D2F0-4FDD-99DF-F833827CF49C}" srcOrd="8" destOrd="0" presId="urn:microsoft.com/office/officeart/2005/8/layout/list1"/>
    <dgm:cxn modelId="{2C6DA223-45C9-4A83-A695-5EA6C0DBF7F5}" type="presParOf" srcId="{5D983AC0-D2F0-4FDD-99DF-F833827CF49C}" destId="{BEBF9352-3CFF-4A39-A5E6-D9603DBAB84A}" srcOrd="0" destOrd="0" presId="urn:microsoft.com/office/officeart/2005/8/layout/list1"/>
    <dgm:cxn modelId="{AF8B6046-87C8-4ACA-AD75-65B9DAE7F683}" type="presParOf" srcId="{5D983AC0-D2F0-4FDD-99DF-F833827CF49C}" destId="{B2DF18CA-74B9-481F-9670-3A71796A4EBA}" srcOrd="1" destOrd="0" presId="urn:microsoft.com/office/officeart/2005/8/layout/list1"/>
    <dgm:cxn modelId="{82672317-3C3E-4057-9955-466ACD75E8D4}" type="presParOf" srcId="{9E95248E-5F37-4787-AE46-095A35E4DDFC}" destId="{8D14E974-B84C-4D52-A7FD-29111A533D60}" srcOrd="9" destOrd="0" presId="urn:microsoft.com/office/officeart/2005/8/layout/list1"/>
    <dgm:cxn modelId="{90E53317-75F0-4E26-BCAB-9B55C7291BCE}" type="presParOf" srcId="{9E95248E-5F37-4787-AE46-095A35E4DDFC}" destId="{7DC323B3-EBAE-4F5D-B4AA-7E03F8E50A94}" srcOrd="10" destOrd="0" presId="urn:microsoft.com/office/officeart/2005/8/layout/list1"/>
    <dgm:cxn modelId="{E31BA442-DCE2-4661-A5D6-4E9580768922}" type="presParOf" srcId="{9E95248E-5F37-4787-AE46-095A35E4DDFC}" destId="{7F8E4FFD-AD16-4936-9D7D-FF7E2CBC09B1}" srcOrd="11" destOrd="0" presId="urn:microsoft.com/office/officeart/2005/8/layout/list1"/>
    <dgm:cxn modelId="{636DC9CF-62EA-4A69-B44C-E5E083B7DFFA}" type="presParOf" srcId="{9E95248E-5F37-4787-AE46-095A35E4DDFC}" destId="{6E65D60D-F460-4ABB-AFE4-8C2FB6C86067}" srcOrd="12" destOrd="0" presId="urn:microsoft.com/office/officeart/2005/8/layout/list1"/>
    <dgm:cxn modelId="{BEFA4CF3-2613-4090-B16D-E6B10E3579D7}" type="presParOf" srcId="{6E65D60D-F460-4ABB-AFE4-8C2FB6C86067}" destId="{60009EB6-ED2F-4B0C-834F-5AAAF3EDAE04}" srcOrd="0" destOrd="0" presId="urn:microsoft.com/office/officeart/2005/8/layout/list1"/>
    <dgm:cxn modelId="{6A336E8E-39D5-4D1B-BF8D-839A1F801D68}" type="presParOf" srcId="{6E65D60D-F460-4ABB-AFE4-8C2FB6C86067}" destId="{02CC5C40-53FC-451D-807E-1BEE70280DDE}" srcOrd="1" destOrd="0" presId="urn:microsoft.com/office/officeart/2005/8/layout/list1"/>
    <dgm:cxn modelId="{D3BFE2E2-767F-49F2-982F-5A2937267A50}" type="presParOf" srcId="{9E95248E-5F37-4787-AE46-095A35E4DDFC}" destId="{74D079EC-7A10-4C63-92C2-3E537C2C85FC}" srcOrd="13" destOrd="0" presId="urn:microsoft.com/office/officeart/2005/8/layout/list1"/>
    <dgm:cxn modelId="{4877B8A8-02A0-4ABF-A058-C59A8DC29E06}" type="presParOf" srcId="{9E95248E-5F37-4787-AE46-095A35E4DDFC}" destId="{F346437E-6B39-4441-82D8-740D937E6FB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459924-7B5D-40FE-95F4-FBA71E96FCF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1D7F55-85AF-46B3-A54A-F5339BB91776}">
      <dgm:prSet/>
      <dgm:spPr/>
      <dgm:t>
        <a:bodyPr/>
        <a:lstStyle/>
        <a:p>
          <a:pPr>
            <a:defRPr b="1"/>
          </a:pPr>
          <a:r>
            <a:rPr lang="en-US"/>
            <a:t>Random Forest:</a:t>
          </a:r>
        </a:p>
      </dgm:t>
    </dgm:pt>
    <dgm:pt modelId="{5CF84EAE-7D5F-4DB4-BA89-2F78CC1C9D65}" type="parTrans" cxnId="{F4140E69-6EF9-4807-8C48-351B6C27EA35}">
      <dgm:prSet/>
      <dgm:spPr/>
      <dgm:t>
        <a:bodyPr/>
        <a:lstStyle/>
        <a:p>
          <a:endParaRPr lang="en-US"/>
        </a:p>
      </dgm:t>
    </dgm:pt>
    <dgm:pt modelId="{4CCFAA81-4333-47BF-8FDB-1835DEFC1F1C}" type="sibTrans" cxnId="{F4140E69-6EF9-4807-8C48-351B6C27EA35}">
      <dgm:prSet/>
      <dgm:spPr/>
      <dgm:t>
        <a:bodyPr/>
        <a:lstStyle/>
        <a:p>
          <a:endParaRPr lang="en-US"/>
        </a:p>
      </dgm:t>
    </dgm:pt>
    <dgm:pt modelId="{55B51015-3A25-431C-8548-F0FC718B7F3A}">
      <dgm:prSet custT="1"/>
      <dgm:spPr/>
      <dgm:t>
        <a:bodyPr/>
        <a:lstStyle/>
        <a:p>
          <a:r>
            <a:rPr lang="en-US" sz="2000" dirty="0"/>
            <a:t>Uses many decision trees to combine for a final prediction</a:t>
          </a:r>
        </a:p>
      </dgm:t>
    </dgm:pt>
    <dgm:pt modelId="{B5932256-049B-4154-A403-E869F9D29A37}" type="parTrans" cxnId="{75318542-CEC9-44F9-9EB3-8E71CEF6D268}">
      <dgm:prSet/>
      <dgm:spPr/>
      <dgm:t>
        <a:bodyPr/>
        <a:lstStyle/>
        <a:p>
          <a:endParaRPr lang="en-US"/>
        </a:p>
      </dgm:t>
    </dgm:pt>
    <dgm:pt modelId="{AE3D6D64-74C3-4687-ADD3-1E577CC8EA90}" type="sibTrans" cxnId="{75318542-CEC9-44F9-9EB3-8E71CEF6D268}">
      <dgm:prSet/>
      <dgm:spPr/>
      <dgm:t>
        <a:bodyPr/>
        <a:lstStyle/>
        <a:p>
          <a:endParaRPr lang="en-US"/>
        </a:p>
      </dgm:t>
    </dgm:pt>
    <dgm:pt modelId="{01DEF16C-74D3-405C-9497-64E228B6BEF7}">
      <dgm:prSet custT="1"/>
      <dgm:spPr/>
      <dgm:t>
        <a:bodyPr/>
        <a:lstStyle/>
        <a:p>
          <a:r>
            <a:rPr lang="en-US" sz="2000" dirty="0"/>
            <a:t>Helps improve stability and reduces overfitting</a:t>
          </a:r>
        </a:p>
      </dgm:t>
    </dgm:pt>
    <dgm:pt modelId="{83A3CECC-E74C-4BDB-B211-EB7C905FD0F1}" type="parTrans" cxnId="{50513EB0-F686-4804-B52C-F2B539064F37}">
      <dgm:prSet/>
      <dgm:spPr/>
      <dgm:t>
        <a:bodyPr/>
        <a:lstStyle/>
        <a:p>
          <a:endParaRPr lang="en-US"/>
        </a:p>
      </dgm:t>
    </dgm:pt>
    <dgm:pt modelId="{B3EF2C29-39FE-4DBC-B407-E280A07B159C}" type="sibTrans" cxnId="{50513EB0-F686-4804-B52C-F2B539064F37}">
      <dgm:prSet/>
      <dgm:spPr/>
      <dgm:t>
        <a:bodyPr/>
        <a:lstStyle/>
        <a:p>
          <a:endParaRPr lang="en-US"/>
        </a:p>
      </dgm:t>
    </dgm:pt>
    <dgm:pt modelId="{6C1586F6-DE56-4436-B0CB-0B8D285C2955}">
      <dgm:prSet/>
      <dgm:spPr/>
      <dgm:t>
        <a:bodyPr/>
        <a:lstStyle/>
        <a:p>
          <a:pPr>
            <a:defRPr b="1"/>
          </a:pPr>
          <a:r>
            <a:rPr lang="en-US"/>
            <a:t>Gradient Boosting:</a:t>
          </a:r>
        </a:p>
      </dgm:t>
    </dgm:pt>
    <dgm:pt modelId="{46B4C370-BDEA-4E5F-B94C-AEEFE30D1389}" type="parTrans" cxnId="{BDCA184A-A57F-423A-9276-1723CBB0F64A}">
      <dgm:prSet/>
      <dgm:spPr/>
      <dgm:t>
        <a:bodyPr/>
        <a:lstStyle/>
        <a:p>
          <a:endParaRPr lang="en-US"/>
        </a:p>
      </dgm:t>
    </dgm:pt>
    <dgm:pt modelId="{75B7BF10-C996-4B05-B3CA-1C7F408B68D5}" type="sibTrans" cxnId="{BDCA184A-A57F-423A-9276-1723CBB0F64A}">
      <dgm:prSet/>
      <dgm:spPr/>
      <dgm:t>
        <a:bodyPr/>
        <a:lstStyle/>
        <a:p>
          <a:endParaRPr lang="en-US"/>
        </a:p>
      </dgm:t>
    </dgm:pt>
    <dgm:pt modelId="{405B9FD6-EDB0-485B-9D2D-ABA2FC53DAD1}">
      <dgm:prSet custT="1"/>
      <dgm:spPr/>
      <dgm:t>
        <a:bodyPr/>
        <a:lstStyle/>
        <a:p>
          <a:r>
            <a:rPr lang="en-US" sz="2000" dirty="0"/>
            <a:t>Builds decision trees sequentially to correct mistakes from the previous one</a:t>
          </a:r>
        </a:p>
      </dgm:t>
    </dgm:pt>
    <dgm:pt modelId="{956E22DD-7F5C-4B19-BD97-7F16C96DA173}" type="parTrans" cxnId="{1ADCCEA0-1D12-4797-8C07-DBF1C245524D}">
      <dgm:prSet/>
      <dgm:spPr/>
      <dgm:t>
        <a:bodyPr/>
        <a:lstStyle/>
        <a:p>
          <a:endParaRPr lang="en-US"/>
        </a:p>
      </dgm:t>
    </dgm:pt>
    <dgm:pt modelId="{97570792-E02B-4322-B10F-ABD19FFB8825}" type="sibTrans" cxnId="{1ADCCEA0-1D12-4797-8C07-DBF1C245524D}">
      <dgm:prSet/>
      <dgm:spPr/>
      <dgm:t>
        <a:bodyPr/>
        <a:lstStyle/>
        <a:p>
          <a:endParaRPr lang="en-US"/>
        </a:p>
      </dgm:t>
    </dgm:pt>
    <dgm:pt modelId="{534CC775-052A-4286-92F4-2E0245D89AB7}">
      <dgm:prSet custT="1"/>
      <dgm:spPr/>
      <dgm:t>
        <a:bodyPr/>
        <a:lstStyle/>
        <a:p>
          <a:r>
            <a:rPr lang="en-US" sz="2000" dirty="0"/>
            <a:t>Is useful for capturing subtle triggers</a:t>
          </a:r>
        </a:p>
      </dgm:t>
    </dgm:pt>
    <dgm:pt modelId="{D8FA52FF-1426-421E-8F94-68178BD0A7DE}" type="parTrans" cxnId="{A1588A29-5BE2-4D27-A021-F40B9E333A6F}">
      <dgm:prSet/>
      <dgm:spPr/>
      <dgm:t>
        <a:bodyPr/>
        <a:lstStyle/>
        <a:p>
          <a:endParaRPr lang="en-US"/>
        </a:p>
      </dgm:t>
    </dgm:pt>
    <dgm:pt modelId="{70D67D7B-DB49-44D8-B794-1B0DA54D8D4E}" type="sibTrans" cxnId="{A1588A29-5BE2-4D27-A021-F40B9E333A6F}">
      <dgm:prSet/>
      <dgm:spPr/>
      <dgm:t>
        <a:bodyPr/>
        <a:lstStyle/>
        <a:p>
          <a:endParaRPr lang="en-US"/>
        </a:p>
      </dgm:t>
    </dgm:pt>
    <dgm:pt modelId="{642939DD-A0AD-44A2-BF14-67D75B85322F}">
      <dgm:prSet/>
      <dgm:spPr/>
      <dgm:t>
        <a:bodyPr/>
        <a:lstStyle/>
        <a:p>
          <a:pPr>
            <a:defRPr b="1"/>
          </a:pPr>
          <a:r>
            <a:rPr lang="en-US"/>
            <a:t>K Nearest Neighbors:</a:t>
          </a:r>
        </a:p>
      </dgm:t>
    </dgm:pt>
    <dgm:pt modelId="{3840E9FF-B0B4-48FB-AC5D-472AA3A3DABA}" type="parTrans" cxnId="{C7BDC84F-3ECF-4C0B-9A05-8B86DDF51C95}">
      <dgm:prSet/>
      <dgm:spPr/>
      <dgm:t>
        <a:bodyPr/>
        <a:lstStyle/>
        <a:p>
          <a:endParaRPr lang="en-US"/>
        </a:p>
      </dgm:t>
    </dgm:pt>
    <dgm:pt modelId="{805A70C1-82F0-4998-AE61-9CBE2CA575BB}" type="sibTrans" cxnId="{C7BDC84F-3ECF-4C0B-9A05-8B86DDF51C95}">
      <dgm:prSet/>
      <dgm:spPr/>
      <dgm:t>
        <a:bodyPr/>
        <a:lstStyle/>
        <a:p>
          <a:endParaRPr lang="en-US"/>
        </a:p>
      </dgm:t>
    </dgm:pt>
    <dgm:pt modelId="{5A335C85-0FEF-43C6-856C-B6A72718FAA3}">
      <dgm:prSet custT="1"/>
      <dgm:spPr/>
      <dgm:t>
        <a:bodyPr/>
        <a:lstStyle/>
        <a:p>
          <a:r>
            <a:rPr lang="en-US" sz="2000" dirty="0"/>
            <a:t>Predicts outcomes by finding the most similar data points</a:t>
          </a:r>
        </a:p>
      </dgm:t>
    </dgm:pt>
    <dgm:pt modelId="{EC7F6F6D-B1B3-4E2B-9B06-9C92AEC06452}" type="parTrans" cxnId="{8B34150F-69E7-4542-A1D5-8733254124F1}">
      <dgm:prSet/>
      <dgm:spPr/>
      <dgm:t>
        <a:bodyPr/>
        <a:lstStyle/>
        <a:p>
          <a:endParaRPr lang="en-US"/>
        </a:p>
      </dgm:t>
    </dgm:pt>
    <dgm:pt modelId="{A946BA8A-BF51-4AA6-B1BB-652F5E1F8C66}" type="sibTrans" cxnId="{8B34150F-69E7-4542-A1D5-8733254124F1}">
      <dgm:prSet/>
      <dgm:spPr/>
      <dgm:t>
        <a:bodyPr/>
        <a:lstStyle/>
        <a:p>
          <a:endParaRPr lang="en-US"/>
        </a:p>
      </dgm:t>
    </dgm:pt>
    <dgm:pt modelId="{91D9C6DD-9BDD-4086-8469-741625898D6F}" type="pres">
      <dgm:prSet presAssocID="{CF459924-7B5D-40FE-95F4-FBA71E96FCFB}" presName="root" presStyleCnt="0">
        <dgm:presLayoutVars>
          <dgm:dir/>
          <dgm:resizeHandles val="exact"/>
        </dgm:presLayoutVars>
      </dgm:prSet>
      <dgm:spPr/>
    </dgm:pt>
    <dgm:pt modelId="{860741CB-F552-4366-BE15-E3A75A907267}" type="pres">
      <dgm:prSet presAssocID="{AD1D7F55-85AF-46B3-A54A-F5339BB91776}" presName="compNode" presStyleCnt="0"/>
      <dgm:spPr/>
    </dgm:pt>
    <dgm:pt modelId="{44C81335-B106-40C2-AF61-8AEB259E57F2}" type="pres">
      <dgm:prSet presAssocID="{AD1D7F55-85AF-46B3-A54A-F5339BB9177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27577978-0320-482F-ABE1-4DEE8372BE8A}" type="pres">
      <dgm:prSet presAssocID="{AD1D7F55-85AF-46B3-A54A-F5339BB91776}" presName="iconSpace" presStyleCnt="0"/>
      <dgm:spPr/>
    </dgm:pt>
    <dgm:pt modelId="{53C1DCC0-9C69-4062-A5B1-EA95C1185F3C}" type="pres">
      <dgm:prSet presAssocID="{AD1D7F55-85AF-46B3-A54A-F5339BB91776}" presName="parTx" presStyleLbl="revTx" presStyleIdx="0" presStyleCnt="6">
        <dgm:presLayoutVars>
          <dgm:chMax val="0"/>
          <dgm:chPref val="0"/>
        </dgm:presLayoutVars>
      </dgm:prSet>
      <dgm:spPr/>
    </dgm:pt>
    <dgm:pt modelId="{0FDD6B42-8D5E-4E28-A625-96A1E60BB910}" type="pres">
      <dgm:prSet presAssocID="{AD1D7F55-85AF-46B3-A54A-F5339BB91776}" presName="txSpace" presStyleCnt="0"/>
      <dgm:spPr/>
    </dgm:pt>
    <dgm:pt modelId="{1D836692-0E79-47A2-BDBA-3E2F2DDB589E}" type="pres">
      <dgm:prSet presAssocID="{AD1D7F55-85AF-46B3-A54A-F5339BB91776}" presName="desTx" presStyleLbl="revTx" presStyleIdx="1" presStyleCnt="6">
        <dgm:presLayoutVars/>
      </dgm:prSet>
      <dgm:spPr/>
    </dgm:pt>
    <dgm:pt modelId="{7CB3AB51-378B-4548-8433-9C6FC5D67607}" type="pres">
      <dgm:prSet presAssocID="{4CCFAA81-4333-47BF-8FDB-1835DEFC1F1C}" presName="sibTrans" presStyleCnt="0"/>
      <dgm:spPr/>
    </dgm:pt>
    <dgm:pt modelId="{570773E6-FF7B-4384-8E0A-66FBCE2A7257}" type="pres">
      <dgm:prSet presAssocID="{6C1586F6-DE56-4436-B0CB-0B8D285C2955}" presName="compNode" presStyleCnt="0"/>
      <dgm:spPr/>
    </dgm:pt>
    <dgm:pt modelId="{A929FCD0-FDD2-46AA-8E32-2EDEBCD012AA}" type="pres">
      <dgm:prSet presAssocID="{6C1586F6-DE56-4436-B0CB-0B8D285C295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6BAD39-7A3F-42D9-AF14-F4391328F2C6}" type="pres">
      <dgm:prSet presAssocID="{6C1586F6-DE56-4436-B0CB-0B8D285C2955}" presName="iconSpace" presStyleCnt="0"/>
      <dgm:spPr/>
    </dgm:pt>
    <dgm:pt modelId="{C414FD09-84A3-4723-8958-B281E3ADCC31}" type="pres">
      <dgm:prSet presAssocID="{6C1586F6-DE56-4436-B0CB-0B8D285C2955}" presName="parTx" presStyleLbl="revTx" presStyleIdx="2" presStyleCnt="6">
        <dgm:presLayoutVars>
          <dgm:chMax val="0"/>
          <dgm:chPref val="0"/>
        </dgm:presLayoutVars>
      </dgm:prSet>
      <dgm:spPr/>
    </dgm:pt>
    <dgm:pt modelId="{C1E59A8B-00F2-4B93-ABC6-251ABA4C37A6}" type="pres">
      <dgm:prSet presAssocID="{6C1586F6-DE56-4436-B0CB-0B8D285C2955}" presName="txSpace" presStyleCnt="0"/>
      <dgm:spPr/>
    </dgm:pt>
    <dgm:pt modelId="{2C51B0C0-5130-4E69-A393-6C04DB4F6ABE}" type="pres">
      <dgm:prSet presAssocID="{6C1586F6-DE56-4436-B0CB-0B8D285C2955}" presName="desTx" presStyleLbl="revTx" presStyleIdx="3" presStyleCnt="6">
        <dgm:presLayoutVars/>
      </dgm:prSet>
      <dgm:spPr/>
    </dgm:pt>
    <dgm:pt modelId="{88B735DD-8B1D-4940-8540-6A764C850251}" type="pres">
      <dgm:prSet presAssocID="{75B7BF10-C996-4B05-B3CA-1C7F408B68D5}" presName="sibTrans" presStyleCnt="0"/>
      <dgm:spPr/>
    </dgm:pt>
    <dgm:pt modelId="{A8AC570F-0831-4BB6-90F0-E7D50B907ACD}" type="pres">
      <dgm:prSet presAssocID="{642939DD-A0AD-44A2-BF14-67D75B85322F}" presName="compNode" presStyleCnt="0"/>
      <dgm:spPr/>
    </dgm:pt>
    <dgm:pt modelId="{46C25FFB-86F8-4433-9894-1D150B2A79C6}" type="pres">
      <dgm:prSet presAssocID="{642939DD-A0AD-44A2-BF14-67D75B85322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F79529A-B016-4395-B157-3C71D49E702E}" type="pres">
      <dgm:prSet presAssocID="{642939DD-A0AD-44A2-BF14-67D75B85322F}" presName="iconSpace" presStyleCnt="0"/>
      <dgm:spPr/>
    </dgm:pt>
    <dgm:pt modelId="{81E2EE5F-5BD4-45D8-B3E6-234018802E52}" type="pres">
      <dgm:prSet presAssocID="{642939DD-A0AD-44A2-BF14-67D75B85322F}" presName="parTx" presStyleLbl="revTx" presStyleIdx="4" presStyleCnt="6">
        <dgm:presLayoutVars>
          <dgm:chMax val="0"/>
          <dgm:chPref val="0"/>
        </dgm:presLayoutVars>
      </dgm:prSet>
      <dgm:spPr/>
    </dgm:pt>
    <dgm:pt modelId="{038CD333-10F1-4FA4-BFD6-A9BBDEB3F4BA}" type="pres">
      <dgm:prSet presAssocID="{642939DD-A0AD-44A2-BF14-67D75B85322F}" presName="txSpace" presStyleCnt="0"/>
      <dgm:spPr/>
    </dgm:pt>
    <dgm:pt modelId="{70F660EE-87DD-4D95-9AE9-D7BF389E9BE1}" type="pres">
      <dgm:prSet presAssocID="{642939DD-A0AD-44A2-BF14-67D75B85322F}" presName="desTx" presStyleLbl="revTx" presStyleIdx="5" presStyleCnt="6">
        <dgm:presLayoutVars/>
      </dgm:prSet>
      <dgm:spPr/>
    </dgm:pt>
  </dgm:ptLst>
  <dgm:cxnLst>
    <dgm:cxn modelId="{7ED60D05-A233-4448-A93C-5480AD52A35A}" type="presOf" srcId="{55B51015-3A25-431C-8548-F0FC718B7F3A}" destId="{1D836692-0E79-47A2-BDBA-3E2F2DDB589E}" srcOrd="0" destOrd="0" presId="urn:microsoft.com/office/officeart/2018/2/layout/IconLabelDescriptionList"/>
    <dgm:cxn modelId="{0409630A-B327-4C3C-885C-AFA8950C1366}" type="presOf" srcId="{5A335C85-0FEF-43C6-856C-B6A72718FAA3}" destId="{70F660EE-87DD-4D95-9AE9-D7BF389E9BE1}" srcOrd="0" destOrd="0" presId="urn:microsoft.com/office/officeart/2018/2/layout/IconLabelDescriptionList"/>
    <dgm:cxn modelId="{8B34150F-69E7-4542-A1D5-8733254124F1}" srcId="{642939DD-A0AD-44A2-BF14-67D75B85322F}" destId="{5A335C85-0FEF-43C6-856C-B6A72718FAA3}" srcOrd="0" destOrd="0" parTransId="{EC7F6F6D-B1B3-4E2B-9B06-9C92AEC06452}" sibTransId="{A946BA8A-BF51-4AA6-B1BB-652F5E1F8C66}"/>
    <dgm:cxn modelId="{A1588A29-5BE2-4D27-A021-F40B9E333A6F}" srcId="{6C1586F6-DE56-4436-B0CB-0B8D285C2955}" destId="{534CC775-052A-4286-92F4-2E0245D89AB7}" srcOrd="1" destOrd="0" parTransId="{D8FA52FF-1426-421E-8F94-68178BD0A7DE}" sibTransId="{70D67D7B-DB49-44D8-B794-1B0DA54D8D4E}"/>
    <dgm:cxn modelId="{27A39737-2BF1-4E7B-B028-BE1A495DB220}" type="presOf" srcId="{642939DD-A0AD-44A2-BF14-67D75B85322F}" destId="{81E2EE5F-5BD4-45D8-B3E6-234018802E52}" srcOrd="0" destOrd="0" presId="urn:microsoft.com/office/officeart/2018/2/layout/IconLabelDescriptionList"/>
    <dgm:cxn modelId="{AF7DA53E-5398-4D92-A7D1-55544F21FC8C}" type="presOf" srcId="{01DEF16C-74D3-405C-9497-64E228B6BEF7}" destId="{1D836692-0E79-47A2-BDBA-3E2F2DDB589E}" srcOrd="0" destOrd="1" presId="urn:microsoft.com/office/officeart/2018/2/layout/IconLabelDescriptionList"/>
    <dgm:cxn modelId="{75318542-CEC9-44F9-9EB3-8E71CEF6D268}" srcId="{AD1D7F55-85AF-46B3-A54A-F5339BB91776}" destId="{55B51015-3A25-431C-8548-F0FC718B7F3A}" srcOrd="0" destOrd="0" parTransId="{B5932256-049B-4154-A403-E869F9D29A37}" sibTransId="{AE3D6D64-74C3-4687-ADD3-1E577CC8EA90}"/>
    <dgm:cxn modelId="{765BE948-4DF1-45E9-A236-D1B2C4891668}" type="presOf" srcId="{CF459924-7B5D-40FE-95F4-FBA71E96FCFB}" destId="{91D9C6DD-9BDD-4086-8469-741625898D6F}" srcOrd="0" destOrd="0" presId="urn:microsoft.com/office/officeart/2018/2/layout/IconLabelDescriptionList"/>
    <dgm:cxn modelId="{F4140E69-6EF9-4807-8C48-351B6C27EA35}" srcId="{CF459924-7B5D-40FE-95F4-FBA71E96FCFB}" destId="{AD1D7F55-85AF-46B3-A54A-F5339BB91776}" srcOrd="0" destOrd="0" parTransId="{5CF84EAE-7D5F-4DB4-BA89-2F78CC1C9D65}" sibTransId="{4CCFAA81-4333-47BF-8FDB-1835DEFC1F1C}"/>
    <dgm:cxn modelId="{BDCA184A-A57F-423A-9276-1723CBB0F64A}" srcId="{CF459924-7B5D-40FE-95F4-FBA71E96FCFB}" destId="{6C1586F6-DE56-4436-B0CB-0B8D285C2955}" srcOrd="1" destOrd="0" parTransId="{46B4C370-BDEA-4E5F-B94C-AEEFE30D1389}" sibTransId="{75B7BF10-C996-4B05-B3CA-1C7F408B68D5}"/>
    <dgm:cxn modelId="{C7BDC84F-3ECF-4C0B-9A05-8B86DDF51C95}" srcId="{CF459924-7B5D-40FE-95F4-FBA71E96FCFB}" destId="{642939DD-A0AD-44A2-BF14-67D75B85322F}" srcOrd="2" destOrd="0" parTransId="{3840E9FF-B0B4-48FB-AC5D-472AA3A3DABA}" sibTransId="{805A70C1-82F0-4998-AE61-9CBE2CA575BB}"/>
    <dgm:cxn modelId="{F24D849A-ED4F-4711-8418-1B0FDE7675CC}" type="presOf" srcId="{534CC775-052A-4286-92F4-2E0245D89AB7}" destId="{2C51B0C0-5130-4E69-A393-6C04DB4F6ABE}" srcOrd="0" destOrd="1" presId="urn:microsoft.com/office/officeart/2018/2/layout/IconLabelDescriptionList"/>
    <dgm:cxn modelId="{1ADCCEA0-1D12-4797-8C07-DBF1C245524D}" srcId="{6C1586F6-DE56-4436-B0CB-0B8D285C2955}" destId="{405B9FD6-EDB0-485B-9D2D-ABA2FC53DAD1}" srcOrd="0" destOrd="0" parTransId="{956E22DD-7F5C-4B19-BD97-7F16C96DA173}" sibTransId="{97570792-E02B-4322-B10F-ABD19FFB8825}"/>
    <dgm:cxn modelId="{50513EB0-F686-4804-B52C-F2B539064F37}" srcId="{AD1D7F55-85AF-46B3-A54A-F5339BB91776}" destId="{01DEF16C-74D3-405C-9497-64E228B6BEF7}" srcOrd="1" destOrd="0" parTransId="{83A3CECC-E74C-4BDB-B211-EB7C905FD0F1}" sibTransId="{B3EF2C29-39FE-4DBC-B407-E280A07B159C}"/>
    <dgm:cxn modelId="{7A9410B8-0154-41C4-A428-6B99FCC9064F}" type="presOf" srcId="{405B9FD6-EDB0-485B-9D2D-ABA2FC53DAD1}" destId="{2C51B0C0-5130-4E69-A393-6C04DB4F6ABE}" srcOrd="0" destOrd="0" presId="urn:microsoft.com/office/officeart/2018/2/layout/IconLabelDescriptionList"/>
    <dgm:cxn modelId="{51BABFC8-2498-429E-B60F-071E02A4E056}" type="presOf" srcId="{AD1D7F55-85AF-46B3-A54A-F5339BB91776}" destId="{53C1DCC0-9C69-4062-A5B1-EA95C1185F3C}" srcOrd="0" destOrd="0" presId="urn:microsoft.com/office/officeart/2018/2/layout/IconLabelDescriptionList"/>
    <dgm:cxn modelId="{D54763E1-297A-4722-B584-DCB72F9F1802}" type="presOf" srcId="{6C1586F6-DE56-4436-B0CB-0B8D285C2955}" destId="{C414FD09-84A3-4723-8958-B281E3ADCC31}" srcOrd="0" destOrd="0" presId="urn:microsoft.com/office/officeart/2018/2/layout/IconLabelDescriptionList"/>
    <dgm:cxn modelId="{7AEE8C21-FCEB-4143-AE0F-BF52D8EB504D}" type="presParOf" srcId="{91D9C6DD-9BDD-4086-8469-741625898D6F}" destId="{860741CB-F552-4366-BE15-E3A75A907267}" srcOrd="0" destOrd="0" presId="urn:microsoft.com/office/officeart/2018/2/layout/IconLabelDescriptionList"/>
    <dgm:cxn modelId="{DC3F2F75-0ADD-45C6-BCAA-9DD576F6F721}" type="presParOf" srcId="{860741CB-F552-4366-BE15-E3A75A907267}" destId="{44C81335-B106-40C2-AF61-8AEB259E57F2}" srcOrd="0" destOrd="0" presId="urn:microsoft.com/office/officeart/2018/2/layout/IconLabelDescriptionList"/>
    <dgm:cxn modelId="{AC82F7D9-54C9-4DA5-B708-4CB3B246C05B}" type="presParOf" srcId="{860741CB-F552-4366-BE15-E3A75A907267}" destId="{27577978-0320-482F-ABE1-4DEE8372BE8A}" srcOrd="1" destOrd="0" presId="urn:microsoft.com/office/officeart/2018/2/layout/IconLabelDescriptionList"/>
    <dgm:cxn modelId="{529BE3E3-D209-4B83-9EA5-5B4F65629086}" type="presParOf" srcId="{860741CB-F552-4366-BE15-E3A75A907267}" destId="{53C1DCC0-9C69-4062-A5B1-EA95C1185F3C}" srcOrd="2" destOrd="0" presId="urn:microsoft.com/office/officeart/2018/2/layout/IconLabelDescriptionList"/>
    <dgm:cxn modelId="{F24FDA04-122E-4A93-A82E-F800ACD526F8}" type="presParOf" srcId="{860741CB-F552-4366-BE15-E3A75A907267}" destId="{0FDD6B42-8D5E-4E28-A625-96A1E60BB910}" srcOrd="3" destOrd="0" presId="urn:microsoft.com/office/officeart/2018/2/layout/IconLabelDescriptionList"/>
    <dgm:cxn modelId="{D2BCCE8E-C6D4-46E7-921C-78E71F3DBCB7}" type="presParOf" srcId="{860741CB-F552-4366-BE15-E3A75A907267}" destId="{1D836692-0E79-47A2-BDBA-3E2F2DDB589E}" srcOrd="4" destOrd="0" presId="urn:microsoft.com/office/officeart/2018/2/layout/IconLabelDescriptionList"/>
    <dgm:cxn modelId="{2396DDE7-F1DF-4AB9-B7AE-8C1FD7B595EF}" type="presParOf" srcId="{91D9C6DD-9BDD-4086-8469-741625898D6F}" destId="{7CB3AB51-378B-4548-8433-9C6FC5D67607}" srcOrd="1" destOrd="0" presId="urn:microsoft.com/office/officeart/2018/2/layout/IconLabelDescriptionList"/>
    <dgm:cxn modelId="{4BCBE169-23E3-40B9-9C02-36F91D338E10}" type="presParOf" srcId="{91D9C6DD-9BDD-4086-8469-741625898D6F}" destId="{570773E6-FF7B-4384-8E0A-66FBCE2A7257}" srcOrd="2" destOrd="0" presId="urn:microsoft.com/office/officeart/2018/2/layout/IconLabelDescriptionList"/>
    <dgm:cxn modelId="{8C3C5A4A-E03F-413B-98A6-F03418245EE4}" type="presParOf" srcId="{570773E6-FF7B-4384-8E0A-66FBCE2A7257}" destId="{A929FCD0-FDD2-46AA-8E32-2EDEBCD012AA}" srcOrd="0" destOrd="0" presId="urn:microsoft.com/office/officeart/2018/2/layout/IconLabelDescriptionList"/>
    <dgm:cxn modelId="{4D1A4B8F-3EA0-4047-82E7-C549045F36BD}" type="presParOf" srcId="{570773E6-FF7B-4384-8E0A-66FBCE2A7257}" destId="{FB6BAD39-7A3F-42D9-AF14-F4391328F2C6}" srcOrd="1" destOrd="0" presId="urn:microsoft.com/office/officeart/2018/2/layout/IconLabelDescriptionList"/>
    <dgm:cxn modelId="{082B8A9A-0183-40BA-8609-4367DE92FEC7}" type="presParOf" srcId="{570773E6-FF7B-4384-8E0A-66FBCE2A7257}" destId="{C414FD09-84A3-4723-8958-B281E3ADCC31}" srcOrd="2" destOrd="0" presId="urn:microsoft.com/office/officeart/2018/2/layout/IconLabelDescriptionList"/>
    <dgm:cxn modelId="{41AA00EB-8639-4782-9097-6CA0AF98CEF8}" type="presParOf" srcId="{570773E6-FF7B-4384-8E0A-66FBCE2A7257}" destId="{C1E59A8B-00F2-4B93-ABC6-251ABA4C37A6}" srcOrd="3" destOrd="0" presId="urn:microsoft.com/office/officeart/2018/2/layout/IconLabelDescriptionList"/>
    <dgm:cxn modelId="{61E49E50-2C5B-4681-820C-C74F4682BC0C}" type="presParOf" srcId="{570773E6-FF7B-4384-8E0A-66FBCE2A7257}" destId="{2C51B0C0-5130-4E69-A393-6C04DB4F6ABE}" srcOrd="4" destOrd="0" presId="urn:microsoft.com/office/officeart/2018/2/layout/IconLabelDescriptionList"/>
    <dgm:cxn modelId="{D0FC29E4-1067-4281-8920-E1EE8A347365}" type="presParOf" srcId="{91D9C6DD-9BDD-4086-8469-741625898D6F}" destId="{88B735DD-8B1D-4940-8540-6A764C850251}" srcOrd="3" destOrd="0" presId="urn:microsoft.com/office/officeart/2018/2/layout/IconLabelDescriptionList"/>
    <dgm:cxn modelId="{7EF76CC1-CCC9-42EF-AE99-025496AB7D42}" type="presParOf" srcId="{91D9C6DD-9BDD-4086-8469-741625898D6F}" destId="{A8AC570F-0831-4BB6-90F0-E7D50B907ACD}" srcOrd="4" destOrd="0" presId="urn:microsoft.com/office/officeart/2018/2/layout/IconLabelDescriptionList"/>
    <dgm:cxn modelId="{926085E6-1CB9-4920-BABF-D8BEDB5F92C6}" type="presParOf" srcId="{A8AC570F-0831-4BB6-90F0-E7D50B907ACD}" destId="{46C25FFB-86F8-4433-9894-1D150B2A79C6}" srcOrd="0" destOrd="0" presId="urn:microsoft.com/office/officeart/2018/2/layout/IconLabelDescriptionList"/>
    <dgm:cxn modelId="{3AC975D8-B798-4FCA-AB92-1C00513746D1}" type="presParOf" srcId="{A8AC570F-0831-4BB6-90F0-E7D50B907ACD}" destId="{6F79529A-B016-4395-B157-3C71D49E702E}" srcOrd="1" destOrd="0" presId="urn:microsoft.com/office/officeart/2018/2/layout/IconLabelDescriptionList"/>
    <dgm:cxn modelId="{3FAB169F-CBA9-40F1-AEFB-F18B1D481BA3}" type="presParOf" srcId="{A8AC570F-0831-4BB6-90F0-E7D50B907ACD}" destId="{81E2EE5F-5BD4-45D8-B3E6-234018802E52}" srcOrd="2" destOrd="0" presId="urn:microsoft.com/office/officeart/2018/2/layout/IconLabelDescriptionList"/>
    <dgm:cxn modelId="{C27705A7-C9A5-401B-B61E-99095E802686}" type="presParOf" srcId="{A8AC570F-0831-4BB6-90F0-E7D50B907ACD}" destId="{038CD333-10F1-4FA4-BFD6-A9BBDEB3F4BA}" srcOrd="3" destOrd="0" presId="urn:microsoft.com/office/officeart/2018/2/layout/IconLabelDescriptionList"/>
    <dgm:cxn modelId="{535F6AA3-AD68-4420-B48C-BCBB984E85F0}" type="presParOf" srcId="{A8AC570F-0831-4BB6-90F0-E7D50B907ACD}" destId="{70F660EE-87DD-4D95-9AE9-D7BF389E9BE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9FB0B6-D836-4BDB-89EC-219304487A84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92FFC9-E9D8-4CCA-ACE8-779515C14DDB}">
      <dgm:prSet custT="1"/>
      <dgm:spPr/>
      <dgm:t>
        <a:bodyPr/>
        <a:lstStyle/>
        <a:p>
          <a:r>
            <a:rPr lang="en-US" sz="2400" dirty="0"/>
            <a:t>Strong ability to distinguish between movers and non-movers</a:t>
          </a:r>
        </a:p>
      </dgm:t>
    </dgm:pt>
    <dgm:pt modelId="{3A1BC9D9-68C6-431B-B92C-4EB35120A543}" type="parTrans" cxnId="{C06E5822-2656-4542-A7B5-EDF4D28FED2F}">
      <dgm:prSet/>
      <dgm:spPr/>
      <dgm:t>
        <a:bodyPr/>
        <a:lstStyle/>
        <a:p>
          <a:endParaRPr lang="en-US"/>
        </a:p>
      </dgm:t>
    </dgm:pt>
    <dgm:pt modelId="{5D3DBEB3-9896-4A5E-95B5-99F29ED4DBE1}" type="sibTrans" cxnId="{C06E5822-2656-4542-A7B5-EDF4D28FED2F}">
      <dgm:prSet/>
      <dgm:spPr/>
      <dgm:t>
        <a:bodyPr/>
        <a:lstStyle/>
        <a:p>
          <a:endParaRPr lang="en-US"/>
        </a:p>
      </dgm:t>
    </dgm:pt>
    <dgm:pt modelId="{AB28247D-0190-4908-B2AE-085E91B3048D}">
      <dgm:prSet custT="1"/>
      <dgm:spPr/>
      <dgm:t>
        <a:bodyPr/>
        <a:lstStyle/>
        <a:p>
          <a:r>
            <a:rPr lang="en-US" sz="2400" dirty="0"/>
            <a:t>The model shows that upstream passage is mainly reliant upon physical features</a:t>
          </a:r>
        </a:p>
      </dgm:t>
    </dgm:pt>
    <dgm:pt modelId="{F20E2776-8733-4C7E-8467-F9FADB07EC94}" type="parTrans" cxnId="{389738C8-49A3-421E-89D9-E1FDA8560A26}">
      <dgm:prSet/>
      <dgm:spPr/>
      <dgm:t>
        <a:bodyPr/>
        <a:lstStyle/>
        <a:p>
          <a:endParaRPr lang="en-US"/>
        </a:p>
      </dgm:t>
    </dgm:pt>
    <dgm:pt modelId="{9159FEFC-CEB1-4BE3-B3EF-7A7DBD5DAB62}" type="sibTrans" cxnId="{389738C8-49A3-421E-89D9-E1FDA8560A26}">
      <dgm:prSet/>
      <dgm:spPr/>
      <dgm:t>
        <a:bodyPr/>
        <a:lstStyle/>
        <a:p>
          <a:endParaRPr lang="en-US"/>
        </a:p>
      </dgm:t>
    </dgm:pt>
    <dgm:pt modelId="{4B126793-AF6D-4683-BF77-2D40EE4D6E4F}">
      <dgm:prSet custT="1"/>
      <dgm:spPr/>
      <dgm:t>
        <a:bodyPr/>
        <a:lstStyle/>
        <a:p>
          <a:r>
            <a:rPr lang="en-US" sz="2400" dirty="0"/>
            <a:t>It’s not just temperature that causes them to move but rather the spring and summer specifically </a:t>
          </a:r>
        </a:p>
      </dgm:t>
    </dgm:pt>
    <dgm:pt modelId="{E9BFD05C-55BE-430D-A62F-CBCC4FE32276}" type="parTrans" cxnId="{FF39EBCE-65FF-452D-9CED-CBBA1EC1740A}">
      <dgm:prSet/>
      <dgm:spPr/>
      <dgm:t>
        <a:bodyPr/>
        <a:lstStyle/>
        <a:p>
          <a:endParaRPr lang="en-US"/>
        </a:p>
      </dgm:t>
    </dgm:pt>
    <dgm:pt modelId="{D5B810FD-8C04-49DA-BD58-1BAED2F5CC55}" type="sibTrans" cxnId="{FF39EBCE-65FF-452D-9CED-CBBA1EC1740A}">
      <dgm:prSet/>
      <dgm:spPr/>
      <dgm:t>
        <a:bodyPr/>
        <a:lstStyle/>
        <a:p>
          <a:endParaRPr lang="en-US"/>
        </a:p>
      </dgm:t>
    </dgm:pt>
    <dgm:pt modelId="{B28F23C1-0D0C-41F3-B66B-FC0A07E4C89B}">
      <dgm:prSet custT="1"/>
      <dgm:spPr/>
      <dgm:t>
        <a:bodyPr/>
        <a:lstStyle/>
        <a:p>
          <a:r>
            <a:rPr lang="en-US" sz="2400" dirty="0"/>
            <a:t>Certain windows of river-height are the majority of upstream passage</a:t>
          </a:r>
        </a:p>
      </dgm:t>
    </dgm:pt>
    <dgm:pt modelId="{29A0EA9A-511E-4098-B550-7F02EFBBC79C}" type="parTrans" cxnId="{A268A872-54EF-48B3-A788-C86E672E86CC}">
      <dgm:prSet/>
      <dgm:spPr/>
      <dgm:t>
        <a:bodyPr/>
        <a:lstStyle/>
        <a:p>
          <a:endParaRPr lang="en-US"/>
        </a:p>
      </dgm:t>
    </dgm:pt>
    <dgm:pt modelId="{15D15FCB-F59A-4733-905D-46F98460D11A}" type="sibTrans" cxnId="{A268A872-54EF-48B3-A788-C86E672E86CC}">
      <dgm:prSet/>
      <dgm:spPr/>
      <dgm:t>
        <a:bodyPr/>
        <a:lstStyle/>
        <a:p>
          <a:endParaRPr lang="en-US"/>
        </a:p>
      </dgm:t>
    </dgm:pt>
    <dgm:pt modelId="{DC9CFDCE-1215-4D65-8B69-F376E10672F4}" type="pres">
      <dgm:prSet presAssocID="{129FB0B6-D836-4BDB-89EC-219304487A84}" presName="linear" presStyleCnt="0">
        <dgm:presLayoutVars>
          <dgm:animLvl val="lvl"/>
          <dgm:resizeHandles val="exact"/>
        </dgm:presLayoutVars>
      </dgm:prSet>
      <dgm:spPr/>
    </dgm:pt>
    <dgm:pt modelId="{8E933D95-4CB3-4D67-A2C0-2E25F889785B}" type="pres">
      <dgm:prSet presAssocID="{0092FFC9-E9D8-4CCA-ACE8-779515C14D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C0680A-EC8A-4B0F-ACF0-F57E62C4E57D}" type="pres">
      <dgm:prSet presAssocID="{5D3DBEB3-9896-4A5E-95B5-99F29ED4DBE1}" presName="spacer" presStyleCnt="0"/>
      <dgm:spPr/>
    </dgm:pt>
    <dgm:pt modelId="{BBBA8607-5617-413D-9721-90CD4359FD92}" type="pres">
      <dgm:prSet presAssocID="{AB28247D-0190-4908-B2AE-085E91B304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DE393E-58D1-4BE9-B3EB-6D0031B9340E}" type="pres">
      <dgm:prSet presAssocID="{9159FEFC-CEB1-4BE3-B3EF-7A7DBD5DAB62}" presName="spacer" presStyleCnt="0"/>
      <dgm:spPr/>
    </dgm:pt>
    <dgm:pt modelId="{0FCFD9FD-3AC0-4509-8D20-911AC39D573D}" type="pres">
      <dgm:prSet presAssocID="{4B126793-AF6D-4683-BF77-2D40EE4D6E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A5C4AC-6F40-4368-A9BD-12AB960D741A}" type="pres">
      <dgm:prSet presAssocID="{D5B810FD-8C04-49DA-BD58-1BAED2F5CC55}" presName="spacer" presStyleCnt="0"/>
      <dgm:spPr/>
    </dgm:pt>
    <dgm:pt modelId="{E967057B-6656-405D-ADC7-F7AD29AA910B}" type="pres">
      <dgm:prSet presAssocID="{B28F23C1-0D0C-41F3-B66B-FC0A07E4C89B}" presName="parentText" presStyleLbl="node1" presStyleIdx="3" presStyleCnt="4" custLinFactNeighborX="-4438" custLinFactNeighborY="12720">
        <dgm:presLayoutVars>
          <dgm:chMax val="0"/>
          <dgm:bulletEnabled val="1"/>
        </dgm:presLayoutVars>
      </dgm:prSet>
      <dgm:spPr/>
    </dgm:pt>
  </dgm:ptLst>
  <dgm:cxnLst>
    <dgm:cxn modelId="{A1E9231F-56C5-4A6C-B3DA-2973C0B73EE9}" type="presOf" srcId="{0092FFC9-E9D8-4CCA-ACE8-779515C14DDB}" destId="{8E933D95-4CB3-4D67-A2C0-2E25F889785B}" srcOrd="0" destOrd="0" presId="urn:microsoft.com/office/officeart/2005/8/layout/vList2"/>
    <dgm:cxn modelId="{C06E5822-2656-4542-A7B5-EDF4D28FED2F}" srcId="{129FB0B6-D836-4BDB-89EC-219304487A84}" destId="{0092FFC9-E9D8-4CCA-ACE8-779515C14DDB}" srcOrd="0" destOrd="0" parTransId="{3A1BC9D9-68C6-431B-B92C-4EB35120A543}" sibTransId="{5D3DBEB3-9896-4A5E-95B5-99F29ED4DBE1}"/>
    <dgm:cxn modelId="{A268A872-54EF-48B3-A788-C86E672E86CC}" srcId="{129FB0B6-D836-4BDB-89EC-219304487A84}" destId="{B28F23C1-0D0C-41F3-B66B-FC0A07E4C89B}" srcOrd="3" destOrd="0" parTransId="{29A0EA9A-511E-4098-B550-7F02EFBBC79C}" sibTransId="{15D15FCB-F59A-4733-905D-46F98460D11A}"/>
    <dgm:cxn modelId="{E887F37F-8771-41F1-922D-0914E8B61BE1}" type="presOf" srcId="{129FB0B6-D836-4BDB-89EC-219304487A84}" destId="{DC9CFDCE-1215-4D65-8B69-F376E10672F4}" srcOrd="0" destOrd="0" presId="urn:microsoft.com/office/officeart/2005/8/layout/vList2"/>
    <dgm:cxn modelId="{59432FAB-3FA4-4273-B052-0FA4771FF4C7}" type="presOf" srcId="{B28F23C1-0D0C-41F3-B66B-FC0A07E4C89B}" destId="{E967057B-6656-405D-ADC7-F7AD29AA910B}" srcOrd="0" destOrd="0" presId="urn:microsoft.com/office/officeart/2005/8/layout/vList2"/>
    <dgm:cxn modelId="{A12B86B4-3B65-4B87-B533-52F23E2CD8A3}" type="presOf" srcId="{AB28247D-0190-4908-B2AE-085E91B3048D}" destId="{BBBA8607-5617-413D-9721-90CD4359FD92}" srcOrd="0" destOrd="0" presId="urn:microsoft.com/office/officeart/2005/8/layout/vList2"/>
    <dgm:cxn modelId="{7F1E0CC2-7900-4B2D-A458-7175F1007394}" type="presOf" srcId="{4B126793-AF6D-4683-BF77-2D40EE4D6E4F}" destId="{0FCFD9FD-3AC0-4509-8D20-911AC39D573D}" srcOrd="0" destOrd="0" presId="urn:microsoft.com/office/officeart/2005/8/layout/vList2"/>
    <dgm:cxn modelId="{389738C8-49A3-421E-89D9-E1FDA8560A26}" srcId="{129FB0B6-D836-4BDB-89EC-219304487A84}" destId="{AB28247D-0190-4908-B2AE-085E91B3048D}" srcOrd="1" destOrd="0" parTransId="{F20E2776-8733-4C7E-8467-F9FADB07EC94}" sibTransId="{9159FEFC-CEB1-4BE3-B3EF-7A7DBD5DAB62}"/>
    <dgm:cxn modelId="{FF39EBCE-65FF-452D-9CED-CBBA1EC1740A}" srcId="{129FB0B6-D836-4BDB-89EC-219304487A84}" destId="{4B126793-AF6D-4683-BF77-2D40EE4D6E4F}" srcOrd="2" destOrd="0" parTransId="{E9BFD05C-55BE-430D-A62F-CBCC4FE32276}" sibTransId="{D5B810FD-8C04-49DA-BD58-1BAED2F5CC55}"/>
    <dgm:cxn modelId="{2B315F34-C448-41D8-B490-7ECF2ABB2E3A}" type="presParOf" srcId="{DC9CFDCE-1215-4D65-8B69-F376E10672F4}" destId="{8E933D95-4CB3-4D67-A2C0-2E25F889785B}" srcOrd="0" destOrd="0" presId="urn:microsoft.com/office/officeart/2005/8/layout/vList2"/>
    <dgm:cxn modelId="{21AAD1D4-80E6-40B4-BADF-19CBAC442BE9}" type="presParOf" srcId="{DC9CFDCE-1215-4D65-8B69-F376E10672F4}" destId="{6EC0680A-EC8A-4B0F-ACF0-F57E62C4E57D}" srcOrd="1" destOrd="0" presId="urn:microsoft.com/office/officeart/2005/8/layout/vList2"/>
    <dgm:cxn modelId="{75E501E7-2441-4CFA-A100-5585F27D4298}" type="presParOf" srcId="{DC9CFDCE-1215-4D65-8B69-F376E10672F4}" destId="{BBBA8607-5617-413D-9721-90CD4359FD92}" srcOrd="2" destOrd="0" presId="urn:microsoft.com/office/officeart/2005/8/layout/vList2"/>
    <dgm:cxn modelId="{B536EDAD-74E7-4310-912C-7197D05A93DD}" type="presParOf" srcId="{DC9CFDCE-1215-4D65-8B69-F376E10672F4}" destId="{BFDE393E-58D1-4BE9-B3EB-6D0031B9340E}" srcOrd="3" destOrd="0" presId="urn:microsoft.com/office/officeart/2005/8/layout/vList2"/>
    <dgm:cxn modelId="{9E1A483F-37EC-42B0-9327-5188F56E697C}" type="presParOf" srcId="{DC9CFDCE-1215-4D65-8B69-F376E10672F4}" destId="{0FCFD9FD-3AC0-4509-8D20-911AC39D573D}" srcOrd="4" destOrd="0" presId="urn:microsoft.com/office/officeart/2005/8/layout/vList2"/>
    <dgm:cxn modelId="{39D1D99A-CAC1-4606-8C78-12936C28DEA2}" type="presParOf" srcId="{DC9CFDCE-1215-4D65-8B69-F376E10672F4}" destId="{29A5C4AC-6F40-4368-A9BD-12AB960D741A}" srcOrd="5" destOrd="0" presId="urn:microsoft.com/office/officeart/2005/8/layout/vList2"/>
    <dgm:cxn modelId="{0196E775-33EB-4EA8-B82B-02C56DC31107}" type="presParOf" srcId="{DC9CFDCE-1215-4D65-8B69-F376E10672F4}" destId="{E967057B-6656-405D-ADC7-F7AD29AA91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4CA8C-D173-445A-9428-964B5BDBF6E5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3DB00-577C-4095-A201-C049E049448F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33 Original Variables</a:t>
          </a:r>
        </a:p>
      </dsp:txBody>
      <dsp:txXfrm>
        <a:off x="560365" y="97774"/>
        <a:ext cx="7291750" cy="639310"/>
      </dsp:txXfrm>
    </dsp:sp>
    <dsp:sp modelId="{A41379A1-F90A-46C6-88C4-D6E03024537E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9520D-ABFD-4F40-A017-301696541529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3043 Rows</a:t>
          </a:r>
        </a:p>
      </dsp:txBody>
      <dsp:txXfrm>
        <a:off x="560365" y="1186414"/>
        <a:ext cx="7291750" cy="639310"/>
      </dsp:txXfrm>
    </dsp:sp>
    <dsp:sp modelId="{7DC323B3-EBAE-4F5D-B4AA-7E03F8E50A94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F18CA-74B9-481F-9670-3A71796A4EBA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Not too many missing values</a:t>
          </a:r>
        </a:p>
      </dsp:txBody>
      <dsp:txXfrm>
        <a:off x="560365" y="2275054"/>
        <a:ext cx="7291750" cy="639310"/>
      </dsp:txXfrm>
    </dsp:sp>
    <dsp:sp modelId="{F346437E-6B39-4441-82D8-740D937E6FB9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C5C40-53FC-451D-807E-1BEE70280DDE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Had multiple unnecessary variables</a:t>
          </a:r>
        </a:p>
      </dsp:txBody>
      <dsp:txXfrm>
        <a:off x="560365" y="3363694"/>
        <a:ext cx="7291750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81335-B106-40C2-AF61-8AEB259E57F2}">
      <dsp:nvSpPr>
        <dsp:cNvPr id="0" name=""/>
        <dsp:cNvSpPr/>
      </dsp:nvSpPr>
      <dsp:spPr>
        <a:xfrm>
          <a:off x="393" y="441863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1DCC0-9C69-4062-A5B1-EA95C1185F3C}">
      <dsp:nvSpPr>
        <dsp:cNvPr id="0" name=""/>
        <dsp:cNvSpPr/>
      </dsp:nvSpPr>
      <dsp:spPr>
        <a:xfrm>
          <a:off x="393" y="168953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Random Forest:</a:t>
          </a:r>
        </a:p>
      </dsp:txBody>
      <dsp:txXfrm>
        <a:off x="393" y="1689532"/>
        <a:ext cx="3138750" cy="470812"/>
      </dsp:txXfrm>
    </dsp:sp>
    <dsp:sp modelId="{1D836692-0E79-47A2-BDBA-3E2F2DDB589E}">
      <dsp:nvSpPr>
        <dsp:cNvPr id="0" name=""/>
        <dsp:cNvSpPr/>
      </dsp:nvSpPr>
      <dsp:spPr>
        <a:xfrm>
          <a:off x="393" y="2229697"/>
          <a:ext cx="3138750" cy="167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Uses many decision trees to combine for a final prediction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Helps improve stability and reduces overfitting</a:t>
          </a:r>
        </a:p>
      </dsp:txBody>
      <dsp:txXfrm>
        <a:off x="393" y="2229697"/>
        <a:ext cx="3138750" cy="1679777"/>
      </dsp:txXfrm>
    </dsp:sp>
    <dsp:sp modelId="{A929FCD0-FDD2-46AA-8E32-2EDEBCD012AA}">
      <dsp:nvSpPr>
        <dsp:cNvPr id="0" name=""/>
        <dsp:cNvSpPr/>
      </dsp:nvSpPr>
      <dsp:spPr>
        <a:xfrm>
          <a:off x="3688425" y="441863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4FD09-84A3-4723-8958-B281E3ADCC31}">
      <dsp:nvSpPr>
        <dsp:cNvPr id="0" name=""/>
        <dsp:cNvSpPr/>
      </dsp:nvSpPr>
      <dsp:spPr>
        <a:xfrm>
          <a:off x="3688425" y="168953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Gradient Boosting:</a:t>
          </a:r>
        </a:p>
      </dsp:txBody>
      <dsp:txXfrm>
        <a:off x="3688425" y="1689532"/>
        <a:ext cx="3138750" cy="470812"/>
      </dsp:txXfrm>
    </dsp:sp>
    <dsp:sp modelId="{2C51B0C0-5130-4E69-A393-6C04DB4F6ABE}">
      <dsp:nvSpPr>
        <dsp:cNvPr id="0" name=""/>
        <dsp:cNvSpPr/>
      </dsp:nvSpPr>
      <dsp:spPr>
        <a:xfrm>
          <a:off x="3688425" y="2229697"/>
          <a:ext cx="3138750" cy="167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Builds decision trees sequentially to correct mistakes from the previous one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Is useful for capturing subtle triggers</a:t>
          </a:r>
        </a:p>
      </dsp:txBody>
      <dsp:txXfrm>
        <a:off x="3688425" y="2229697"/>
        <a:ext cx="3138750" cy="1679777"/>
      </dsp:txXfrm>
    </dsp:sp>
    <dsp:sp modelId="{46C25FFB-86F8-4433-9894-1D150B2A79C6}">
      <dsp:nvSpPr>
        <dsp:cNvPr id="0" name=""/>
        <dsp:cNvSpPr/>
      </dsp:nvSpPr>
      <dsp:spPr>
        <a:xfrm>
          <a:off x="7376456" y="441863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2EE5F-5BD4-45D8-B3E6-234018802E52}">
      <dsp:nvSpPr>
        <dsp:cNvPr id="0" name=""/>
        <dsp:cNvSpPr/>
      </dsp:nvSpPr>
      <dsp:spPr>
        <a:xfrm>
          <a:off x="7376456" y="168953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K Nearest Neighbors:</a:t>
          </a:r>
        </a:p>
      </dsp:txBody>
      <dsp:txXfrm>
        <a:off x="7376456" y="1689532"/>
        <a:ext cx="3138750" cy="470812"/>
      </dsp:txXfrm>
    </dsp:sp>
    <dsp:sp modelId="{70F660EE-87DD-4D95-9AE9-D7BF389E9BE1}">
      <dsp:nvSpPr>
        <dsp:cNvPr id="0" name=""/>
        <dsp:cNvSpPr/>
      </dsp:nvSpPr>
      <dsp:spPr>
        <a:xfrm>
          <a:off x="7376456" y="2229697"/>
          <a:ext cx="3138750" cy="1679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Predicts outcomes by finding the most similar data points</a:t>
          </a:r>
        </a:p>
      </dsp:txBody>
      <dsp:txXfrm>
        <a:off x="7376456" y="2229697"/>
        <a:ext cx="3138750" cy="16797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33D95-4CB3-4D67-A2C0-2E25F889785B}">
      <dsp:nvSpPr>
        <dsp:cNvPr id="0" name=""/>
        <dsp:cNvSpPr/>
      </dsp:nvSpPr>
      <dsp:spPr>
        <a:xfrm>
          <a:off x="0" y="4149"/>
          <a:ext cx="10515600" cy="973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Strong ability to distinguish between movers and non-movers</a:t>
          </a:r>
        </a:p>
      </dsp:txBody>
      <dsp:txXfrm>
        <a:off x="47519" y="51668"/>
        <a:ext cx="10420562" cy="878402"/>
      </dsp:txXfrm>
    </dsp:sp>
    <dsp:sp modelId="{BBBA8607-5617-413D-9721-90CD4359FD92}">
      <dsp:nvSpPr>
        <dsp:cNvPr id="0" name=""/>
        <dsp:cNvSpPr/>
      </dsp:nvSpPr>
      <dsp:spPr>
        <a:xfrm>
          <a:off x="0" y="1127349"/>
          <a:ext cx="10515600" cy="973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model shows that upstream passage is mainly reliant upon physical features</a:t>
          </a:r>
        </a:p>
      </dsp:txBody>
      <dsp:txXfrm>
        <a:off x="47519" y="1174868"/>
        <a:ext cx="10420562" cy="878402"/>
      </dsp:txXfrm>
    </dsp:sp>
    <dsp:sp modelId="{0FCFD9FD-3AC0-4509-8D20-911AC39D573D}">
      <dsp:nvSpPr>
        <dsp:cNvPr id="0" name=""/>
        <dsp:cNvSpPr/>
      </dsp:nvSpPr>
      <dsp:spPr>
        <a:xfrm>
          <a:off x="0" y="2250549"/>
          <a:ext cx="10515600" cy="973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It’s not just temperature that causes them to move but rather the spring and summer specifically </a:t>
          </a:r>
        </a:p>
      </dsp:txBody>
      <dsp:txXfrm>
        <a:off x="47519" y="2298068"/>
        <a:ext cx="10420562" cy="878402"/>
      </dsp:txXfrm>
    </dsp:sp>
    <dsp:sp modelId="{E967057B-6656-405D-ADC7-F7AD29AA910B}">
      <dsp:nvSpPr>
        <dsp:cNvPr id="0" name=""/>
        <dsp:cNvSpPr/>
      </dsp:nvSpPr>
      <dsp:spPr>
        <a:xfrm>
          <a:off x="0" y="3377898"/>
          <a:ext cx="10515600" cy="973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Certain windows of river-height are the majority of upstream passage</a:t>
          </a:r>
        </a:p>
      </dsp:txBody>
      <dsp:txXfrm>
        <a:off x="47519" y="3425417"/>
        <a:ext cx="10420562" cy="878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3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39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5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4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2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1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4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8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6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13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7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9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dictea.com/r-packages-for-predictive-analytics/" TargetMode="External"/><Relationship Id="rId2" Type="http://schemas.openxmlformats.org/officeDocument/2006/relationships/hyperlink" Target="https://www.sciencebase.gov/catalog/file/get/5fbe7c1ad34e4b9faad7e8cc?f=__disk__14%2F2a%2F6b%2F142a6bfa9ab133230a0c0a6e45f2b278541dde1c&amp;transform=1&amp;allowOpen=tru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datacamp.com/tutorial/k-nearest-neighbors-knn-classification-with-r-tutorial" TargetMode="External"/><Relationship Id="rId4" Type="http://schemas.openxmlformats.org/officeDocument/2006/relationships/hyperlink" Target="https://xgboost.readthedocs.io/en/release_1.5.0/R-package/xgboostPresent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737" y="1641538"/>
            <a:ext cx="7315199" cy="2387600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Modeling Invasive Carp Passage Risk in the Mississippi River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737" y="4029138"/>
            <a:ext cx="7315199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Caleb Bush 4/28/26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8E4C-FA4C-74AB-137B-D150EA22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Project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7318-06EA-58F1-165D-E9AFC2B80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Invasive Carp have Invasive Asian Carp have become a major threat to the Mississippi River by competing with native fish and damaging their habitat.</a:t>
            </a:r>
          </a:p>
          <a:p>
            <a:endParaRPr lang="en-US" sz="2400" dirty="0"/>
          </a:p>
          <a:p>
            <a:r>
              <a:rPr lang="en-US" sz="2400" dirty="0"/>
              <a:t>This project would use data collected through acoustic telemetry to analyze and predict invasive carp movements in 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E7C74-E57E-A80A-298F-4849DDFAC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41" r="-2" b="-2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202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DE02-1BF3-AFFC-A047-FA210A81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456E-3A33-65F6-895F-B87C140CB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Data is from the U.S Geological Survey</a:t>
            </a:r>
          </a:p>
          <a:p>
            <a:endParaRPr lang="en-US" dirty="0"/>
          </a:p>
          <a:p>
            <a:r>
              <a:rPr lang="en-US" dirty="0"/>
              <a:t>Collection occurred from Lock and Dam 19 in Iowa</a:t>
            </a:r>
          </a:p>
          <a:p>
            <a:endParaRPr lang="en-US" dirty="0"/>
          </a:p>
          <a:p>
            <a:r>
              <a:rPr lang="en-US" dirty="0"/>
              <a:t>Gathered data from transmitters in tagged fish</a:t>
            </a:r>
          </a:p>
          <a:p>
            <a:endParaRPr lang="en-US" dirty="0"/>
          </a:p>
          <a:p>
            <a:r>
              <a:rPr lang="en-US" dirty="0"/>
              <a:t>Multiple fish species other than carp in the dataset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5B9AE-D9D7-B41A-9647-44EF7C07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825625"/>
            <a:ext cx="5915125" cy="32385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015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5559-698E-9387-976B-AFAEFE73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Look into the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0E78CC-C769-286F-C0E9-4C0706BEE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8419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220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69C3-6D78-C122-14B7-08D76988F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DA31-8598-FCA5-BC46-28AF9009E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Converting Date column to date objects</a:t>
            </a:r>
          </a:p>
          <a:p>
            <a:endParaRPr lang="en-US" sz="2400" dirty="0"/>
          </a:p>
          <a:p>
            <a:r>
              <a:rPr lang="en-US" sz="2400" dirty="0"/>
              <a:t>Removing columns that have no impact on prediction with high missing values</a:t>
            </a:r>
          </a:p>
          <a:p>
            <a:endParaRPr lang="en-US" sz="2400" dirty="0"/>
          </a:p>
          <a:p>
            <a:r>
              <a:rPr lang="en-US" sz="2400" dirty="0"/>
              <a:t>Getting rid of columns that say the same thing as another column</a:t>
            </a:r>
          </a:p>
          <a:p>
            <a:endParaRPr lang="en-US" sz="2400" dirty="0"/>
          </a:p>
          <a:p>
            <a:r>
              <a:rPr lang="en-US" sz="2400" dirty="0"/>
              <a:t>Converting categorical variables to factors </a:t>
            </a:r>
          </a:p>
          <a:p>
            <a:endParaRPr lang="en-US" sz="2400" dirty="0"/>
          </a:p>
          <a:p>
            <a:r>
              <a:rPr lang="en-US" sz="2400" dirty="0"/>
              <a:t>Log transform important columns with big outliers</a:t>
            </a:r>
          </a:p>
        </p:txBody>
      </p:sp>
    </p:spTree>
    <p:extLst>
      <p:ext uri="{BB962C8B-B14F-4D97-AF65-F5344CB8AC3E}">
        <p14:creationId xmlns:p14="http://schemas.microsoft.com/office/powerpoint/2010/main" val="140822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2799-CBBE-4686-3FF6-F4053028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Models Used in R for this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052BDB-1CCC-CC83-26B0-345741DAD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557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353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9613-E38D-60EC-73AA-A1C49AEC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A292-2BF5-F78D-DF9E-6C1B6AB51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 used: randomForest</a:t>
            </a:r>
          </a:p>
          <a:p>
            <a:endParaRPr lang="en-US" dirty="0"/>
          </a:p>
          <a:p>
            <a:r>
              <a:rPr lang="en-US" dirty="0"/>
              <a:t>Filter to only invasive carp species</a:t>
            </a:r>
          </a:p>
          <a:p>
            <a:endParaRPr lang="en-US" dirty="0"/>
          </a:p>
          <a:p>
            <a:r>
              <a:rPr lang="en-US" dirty="0"/>
              <a:t>Get unique ids as not every entry is unique with </a:t>
            </a:r>
            <a:r>
              <a:rPr lang="en-US" dirty="0" err="1"/>
              <a:t>transmitterid</a:t>
            </a:r>
            <a:endParaRPr lang="en-US" dirty="0"/>
          </a:p>
          <a:p>
            <a:endParaRPr lang="en-US" dirty="0"/>
          </a:p>
          <a:p>
            <a:r>
              <a:rPr lang="en-US" dirty="0"/>
              <a:t>70/30 split</a:t>
            </a:r>
          </a:p>
          <a:p>
            <a:endParaRPr lang="en-US" dirty="0"/>
          </a:p>
          <a:p>
            <a:r>
              <a:rPr lang="en-US" dirty="0"/>
              <a:t>Apply custom threshold for predictions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0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A4CA-3A6B-FC26-C02E-47C4B938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4D5B-33BA-B9EE-EE2B-1303AA2E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0767-1B67-74EE-8857-0B64A49A7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0692"/>
            <a:ext cx="2247900" cy="4351338"/>
          </a:xfrm>
        </p:spPr>
        <p:txBody>
          <a:bodyPr/>
          <a:lstStyle/>
          <a:p>
            <a:r>
              <a:rPr lang="en-US" sz="2200" dirty="0"/>
              <a:t>Accuracy: 0.94</a:t>
            </a:r>
          </a:p>
          <a:p>
            <a:endParaRPr lang="en-US" sz="2200" dirty="0"/>
          </a:p>
          <a:p>
            <a:r>
              <a:rPr lang="en-US" sz="2200" dirty="0"/>
              <a:t>Precision: 0.621</a:t>
            </a:r>
          </a:p>
          <a:p>
            <a:endParaRPr lang="en-US" sz="2200" dirty="0"/>
          </a:p>
          <a:p>
            <a:r>
              <a:rPr lang="en-US" sz="2200" dirty="0"/>
              <a:t>Recall: 0.94.7</a:t>
            </a:r>
          </a:p>
          <a:p>
            <a:endParaRPr lang="en-US" sz="2200" dirty="0"/>
          </a:p>
          <a:p>
            <a:r>
              <a:rPr lang="en-US" sz="2200" dirty="0"/>
              <a:t>F1: 0.75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18D6E-909C-61F2-B1C5-1E7A0DE30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337915"/>
            <a:ext cx="5055088" cy="2862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9BFC7-C217-F774-D40B-378C88D46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1" y="401868"/>
            <a:ext cx="4900336" cy="277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9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593C-C6B0-D7EA-0DB4-481AD170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0557-5EF8-B261-ABEA-CF12C84D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6E36-F73D-E1AE-4A9A-337A27E68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168"/>
            <a:ext cx="5864352" cy="4832795"/>
          </a:xfrm>
        </p:spPr>
        <p:txBody>
          <a:bodyPr>
            <a:normAutofit/>
          </a:bodyPr>
          <a:lstStyle/>
          <a:p>
            <a:r>
              <a:rPr lang="en-US" dirty="0"/>
              <a:t>The model now performs  well at identifying minority events</a:t>
            </a:r>
          </a:p>
          <a:p>
            <a:pPr lvl="1"/>
            <a:r>
              <a:rPr lang="en-US" dirty="0"/>
              <a:t>The trade-off is a reduction in precision, meaning more false positives are introduced</a:t>
            </a:r>
          </a:p>
          <a:p>
            <a:endParaRPr lang="en-US" sz="2400" dirty="0"/>
          </a:p>
          <a:p>
            <a:r>
              <a:rPr lang="en-US" dirty="0"/>
              <a:t>The data still contains very few upstream occurrences, which makes classification inherently imbalanced</a:t>
            </a:r>
          </a:p>
          <a:p>
            <a:endParaRPr lang="en-US" dirty="0"/>
          </a:p>
          <a:p>
            <a:r>
              <a:rPr lang="en-US" dirty="0"/>
              <a:t>The model is best at predicting when passage doesn’t occur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2FDCC-0065-ED68-09EE-29BCCF1E0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592" y="3794760"/>
            <a:ext cx="3728381" cy="2111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2F2B83-D8C1-DB8E-416E-3DB0EF20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26" y="1027910"/>
            <a:ext cx="3871912" cy="219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1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6286-855F-1CC1-E1A2-19BE28EE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9422-7A5B-1F4A-E79E-482A1581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6B4E-4AA5-E8F1-C096-245783A189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Library used: </a:t>
            </a:r>
            <a:r>
              <a:rPr lang="en-US" dirty="0" err="1"/>
              <a:t>xgboost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Convert response variable to 0/1</a:t>
            </a:r>
          </a:p>
          <a:p>
            <a:endParaRPr lang="en-US" dirty="0"/>
          </a:p>
          <a:p>
            <a:r>
              <a:rPr lang="en-US" dirty="0"/>
              <a:t>Remove irrelevant variables</a:t>
            </a:r>
          </a:p>
          <a:p>
            <a:endParaRPr lang="en-US" dirty="0"/>
          </a:p>
          <a:p>
            <a:r>
              <a:rPr lang="en-US" dirty="0"/>
              <a:t>Filter for invasive species</a:t>
            </a:r>
          </a:p>
          <a:p>
            <a:endParaRPr lang="en-US" dirty="0"/>
          </a:p>
          <a:p>
            <a:r>
              <a:rPr lang="en-US" dirty="0"/>
              <a:t>Create model matrix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CB5E-D46B-617E-BEE8-18A863D78F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70/30 split</a:t>
            </a:r>
          </a:p>
          <a:p>
            <a:endParaRPr lang="en-US" dirty="0"/>
          </a:p>
          <a:p>
            <a:r>
              <a:rPr lang="en-US" dirty="0"/>
              <a:t>Handle class imbalance</a:t>
            </a:r>
          </a:p>
          <a:p>
            <a:endParaRPr lang="en-US" dirty="0"/>
          </a:p>
          <a:p>
            <a:r>
              <a:rPr lang="en-US" dirty="0"/>
              <a:t>Convert data into </a:t>
            </a:r>
            <a:r>
              <a:rPr lang="en-US" dirty="0" err="1"/>
              <a:t>Dmatrix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 0.25 threshold for predictions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9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D986-F5A0-3EC1-C2BF-1F97208E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1B83-C01B-CA93-7C95-83D47902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693B-52F4-9199-E82D-0028C5F75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Accuracy: 0.93</a:t>
            </a:r>
          </a:p>
          <a:p>
            <a:endParaRPr lang="en-US" dirty="0"/>
          </a:p>
          <a:p>
            <a:r>
              <a:rPr lang="en-US" dirty="0"/>
              <a:t>Sensitivity: 0.84</a:t>
            </a:r>
          </a:p>
          <a:p>
            <a:endParaRPr lang="en-US" dirty="0"/>
          </a:p>
          <a:p>
            <a:r>
              <a:rPr lang="en-US" dirty="0"/>
              <a:t>Specificity: 0.94</a:t>
            </a:r>
          </a:p>
          <a:p>
            <a:endParaRPr lang="en-US" dirty="0"/>
          </a:p>
          <a:p>
            <a:r>
              <a:rPr lang="en-US" dirty="0"/>
              <a:t>Kappa: 0.6576</a:t>
            </a:r>
          </a:p>
          <a:p>
            <a:endParaRPr lang="en-US" dirty="0"/>
          </a:p>
          <a:p>
            <a:r>
              <a:rPr lang="en-US" dirty="0"/>
              <a:t>Correct Classification: 0.89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7A38D-BDC3-99A2-DE8C-AC1CEA50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54287"/>
            <a:ext cx="4546294" cy="2574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8F94C-DD4C-AEC1-8DB9-FBA705A2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3466976"/>
            <a:ext cx="4204906" cy="23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5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6634-32AF-5B6C-E2FC-D6AE1F40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1"/>
            <a:ext cx="10515600" cy="1325563"/>
          </a:xfrm>
        </p:spPr>
        <p:txBody>
          <a:bodyPr/>
          <a:lstStyle/>
          <a:p>
            <a:r>
              <a:rPr lang="en-US" dirty="0"/>
              <a:t>Gradient Boosting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2C899-836C-3469-FBB8-EF1AA6828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085463"/>
            <a:ext cx="4719637" cy="2672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F3B66B-858D-F538-5BE0-8ED8E75C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1378937"/>
            <a:ext cx="4548187" cy="2575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4205DE-F163-FA64-0CCB-CA3F06B2D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758345"/>
            <a:ext cx="4338637" cy="2457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919454-B30F-F81E-452E-CA610A4F6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38915"/>
            <a:ext cx="4338637" cy="245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7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02394-E66B-FBB2-0951-1F852550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4920-B43A-FC52-E135-0147D344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Gradient Boosting 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E04B1-16DD-FC9B-578D-98CD6EA08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2563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654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8C54-8FA7-7581-F4AB-16D33C1F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D529-F1EA-B166-B3A2-16639FB0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CC7F-12F2-6904-0A91-6DF005874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caret package was the main library used for this model</a:t>
            </a:r>
          </a:p>
          <a:p>
            <a:endParaRPr lang="en-US" dirty="0"/>
          </a:p>
          <a:p>
            <a:r>
              <a:rPr lang="en-US" dirty="0"/>
              <a:t>This model used the same train/test split as previous model</a:t>
            </a:r>
          </a:p>
          <a:p>
            <a:endParaRPr lang="en-US" dirty="0"/>
          </a:p>
          <a:p>
            <a:r>
              <a:rPr lang="en-US" dirty="0"/>
              <a:t>A custom threshold of 0.25 was also used</a:t>
            </a:r>
          </a:p>
          <a:p>
            <a:endParaRPr lang="en-US" dirty="0"/>
          </a:p>
          <a:p>
            <a:r>
              <a:rPr lang="en-US" dirty="0"/>
              <a:t>Cross validation method in the model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03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DB06-002E-31C0-A85D-82A8F36C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A497C-F1BC-0C13-E041-0DBA724B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64FC-A281-F722-C7E3-5AA458C8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3"/>
            <a:ext cx="10515600" cy="4351338"/>
          </a:xfrm>
        </p:spPr>
        <p:txBody>
          <a:bodyPr/>
          <a:lstStyle/>
          <a:p>
            <a:r>
              <a:rPr lang="en-US" dirty="0"/>
              <a:t>Accuracy: 0.9451</a:t>
            </a:r>
          </a:p>
          <a:p>
            <a:endParaRPr lang="en-US" dirty="0"/>
          </a:p>
          <a:p>
            <a:r>
              <a:rPr lang="en-US" dirty="0"/>
              <a:t>Kappa: 0.7139</a:t>
            </a:r>
          </a:p>
          <a:p>
            <a:endParaRPr lang="en-US" dirty="0"/>
          </a:p>
          <a:p>
            <a:r>
              <a:rPr lang="en-US" dirty="0"/>
              <a:t>Sensitivity: 0.84</a:t>
            </a:r>
          </a:p>
          <a:p>
            <a:endParaRPr lang="en-US" dirty="0"/>
          </a:p>
          <a:p>
            <a:r>
              <a:rPr lang="en-US" dirty="0"/>
              <a:t>Specificity: 0.956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D7A7E-2B31-213E-8C00-B5DD5E6AB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1009575"/>
            <a:ext cx="4033837" cy="2284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FE135-5177-ABDB-92EF-34EDE7A4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525840"/>
            <a:ext cx="4271962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3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8E58-9269-2A95-669A-111F4C7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CE3C-B128-33BE-CED4-412755C3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K Nearest Neighbors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796D-7EBA-7BC8-7FE6-CB0C33838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Most accurate model overall</a:t>
            </a:r>
          </a:p>
          <a:p>
            <a:endParaRPr lang="en-US" dirty="0"/>
          </a:p>
          <a:p>
            <a:r>
              <a:rPr lang="en-US" dirty="0"/>
              <a:t>Water level risk threshold is 2.5m</a:t>
            </a:r>
          </a:p>
          <a:p>
            <a:endParaRPr lang="en-US" dirty="0"/>
          </a:p>
          <a:p>
            <a:r>
              <a:rPr lang="en-US" dirty="0"/>
              <a:t>Risk goes back down after 5m</a:t>
            </a:r>
          </a:p>
          <a:p>
            <a:endParaRPr lang="en-US" dirty="0"/>
          </a:p>
          <a:p>
            <a:r>
              <a:rPr lang="en-US" dirty="0"/>
              <a:t>High negative predictive value of .983</a:t>
            </a:r>
          </a:p>
          <a:p>
            <a:pPr marL="0" indent="0">
              <a:buNone/>
            </a:pPr>
            <a:r>
              <a:rPr lang="en-US" dirty="0"/>
              <a:t>	means that model is very good</a:t>
            </a:r>
          </a:p>
          <a:p>
            <a:pPr marL="0" indent="0">
              <a:buNone/>
            </a:pPr>
            <a:r>
              <a:rPr lang="en-US" dirty="0"/>
              <a:t>	at predicting no movement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86BD2-CA89-9617-B275-20D1E264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9" r="24663" b="1"/>
          <a:stretch>
            <a:fillRect/>
          </a:stretch>
        </p:blipFill>
        <p:spPr>
          <a:xfrm>
            <a:off x="6172202" y="1549400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4221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6E7D-4F14-5E13-A729-9DFBD755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AC0B-CCC0-42A9-99C7-29A9F749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Final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ECF9C-A66D-C5CB-D3A7-68F4CAFC7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three models had consistent results meaning that the driver are carp movement are highly predictable</a:t>
            </a:r>
          </a:p>
          <a:p>
            <a:endParaRPr lang="en-US" dirty="0"/>
          </a:p>
          <a:p>
            <a:r>
              <a:rPr lang="en-US" dirty="0"/>
              <a:t>The invasive carp move upstream between 2.5m-5m, and their peak movement is at 3.8m</a:t>
            </a:r>
          </a:p>
          <a:p>
            <a:endParaRPr lang="en-US" dirty="0"/>
          </a:p>
          <a:p>
            <a:r>
              <a:rPr lang="en-US" dirty="0"/>
              <a:t>Biological factors such a weight and length were consistently the top predictors</a:t>
            </a:r>
          </a:p>
          <a:p>
            <a:endParaRPr lang="en-US" dirty="0"/>
          </a:p>
          <a:p>
            <a:r>
              <a:rPr lang="en-US" dirty="0"/>
              <a:t>Movement is not triggered by temperature alone but by the intersection of temperature and season. The highest risk occurs during the Spring and Summer from 15°C-25 °C</a:t>
            </a:r>
          </a:p>
        </p:txBody>
      </p:sp>
    </p:spTree>
    <p:extLst>
      <p:ext uri="{BB962C8B-B14F-4D97-AF65-F5344CB8AC3E}">
        <p14:creationId xmlns:p14="http://schemas.microsoft.com/office/powerpoint/2010/main" val="2156471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5FA6-ABD3-B1E7-1915-86C99527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B13D-A10E-0DD7-6FC1-DB055C4A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8B22-7289-E20F-03E2-204181C1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R Core Team (2025). R: A Language and Environment for Statistical Computing. R Foundation for Statistical Computing, Vienna, Austria. </a:t>
            </a:r>
          </a:p>
          <a:p>
            <a:r>
              <a:rPr lang="en-US" sz="1800" dirty="0"/>
              <a:t>RStudio Team (2025). RStudio: Integrated Development Environment for R. Posit Software, PBC, Boston, MA.</a:t>
            </a:r>
          </a:p>
          <a:p>
            <a:r>
              <a:rPr lang="en-US" sz="1800" dirty="0"/>
              <a:t>Fritts, A., &amp; Knights, B. (2020, November 30). 2017-2018 telemetry data for Asian carp and native fish species at lock and dam 19 in the upper </a:t>
            </a:r>
            <a:r>
              <a:rPr lang="en-US" sz="1800" dirty="0" err="1"/>
              <a:t>mississippi</a:t>
            </a:r>
            <a:r>
              <a:rPr lang="en-US" sz="1800" dirty="0"/>
              <a:t> river basin. sciencebase.gov.</a:t>
            </a:r>
          </a:p>
          <a:p>
            <a:r>
              <a:rPr lang="en-US" sz="1800" dirty="0">
                <a:hlinkClick r:id="rId2"/>
              </a:rPr>
              <a:t>https://www.sciencebase.gov/catalog/file/get/5fbe7c1ad34e4b9faad7e8cc?f=__disk__14%2F2a%2F6b%2F142a6bfa9ab133230a0c0a6e45f2b278541dde1c&amp;transform=1&amp;allowOpen=true</a:t>
            </a:r>
            <a:r>
              <a:rPr lang="en-US" sz="1800" dirty="0"/>
              <a:t> </a:t>
            </a:r>
          </a:p>
          <a:p>
            <a:r>
              <a:rPr lang="en-US" sz="1800" dirty="0"/>
              <a:t>Robin, X., Turck, N., </a:t>
            </a:r>
            <a:r>
              <a:rPr lang="en-US" sz="1800" dirty="0" err="1"/>
              <a:t>Hainard</a:t>
            </a:r>
            <a:r>
              <a:rPr lang="en-US" sz="1800" dirty="0"/>
              <a:t>, A., Tiberti, N., </a:t>
            </a:r>
            <a:r>
              <a:rPr lang="en-US" sz="1800" dirty="0" err="1"/>
              <a:t>Lisacek</a:t>
            </a:r>
            <a:r>
              <a:rPr lang="en-US" sz="1800" dirty="0"/>
              <a:t>, F., Sanchez, J.-C., &amp; Müller, M. (Year). </a:t>
            </a:r>
            <a:r>
              <a:rPr lang="en-US" sz="1800" dirty="0" err="1"/>
              <a:t>pROC</a:t>
            </a:r>
            <a:r>
              <a:rPr lang="en-US" sz="1800" dirty="0"/>
              <a:t>: Display and analyze ROC curves (R </a:t>
            </a:r>
            <a:r>
              <a:rPr lang="en-US" sz="1800" dirty="0" err="1"/>
              <a:t>packageversion</a:t>
            </a:r>
            <a:r>
              <a:rPr lang="en-US" sz="1800" dirty="0"/>
              <a:t> X.X.X). CRAN. https://cran.r-project.org/web/packages/pROC/pROC.pdf</a:t>
            </a:r>
          </a:p>
          <a:p>
            <a:r>
              <a:rPr lang="en-US" sz="1800" dirty="0"/>
              <a:t>Görög, L. (2022, September 5). R packages for Predictive Analytics. </a:t>
            </a:r>
            <a:r>
              <a:rPr lang="en-US" sz="1800" dirty="0" err="1"/>
              <a:t>Predictea</a:t>
            </a:r>
            <a:r>
              <a:rPr lang="en-US" sz="1800" dirty="0"/>
              <a:t> Digital Care - AI Strategy, Predictions, Data Analysis.</a:t>
            </a:r>
          </a:p>
          <a:p>
            <a:r>
              <a:rPr lang="en-US" sz="1800" dirty="0">
                <a:hlinkClick r:id="rId3"/>
              </a:rPr>
              <a:t>https://www.predictea.com/r-packages-for-predictive-analytics/</a:t>
            </a:r>
            <a:endParaRPr lang="en-US" sz="1800" dirty="0"/>
          </a:p>
          <a:p>
            <a:r>
              <a:rPr lang="en-US" sz="1800" dirty="0">
                <a:hlinkClick r:id="rId4"/>
              </a:rPr>
              <a:t>https://xgboost.readthedocs.io/en/release_1.5.0/R-package/xgboostPresentation.html</a:t>
            </a:r>
            <a:endParaRPr lang="en-US" sz="1800" dirty="0"/>
          </a:p>
          <a:p>
            <a:r>
              <a:rPr lang="en-US" sz="1800" dirty="0">
                <a:hlinkClick r:id="rId5"/>
              </a:rPr>
              <a:t>https://www.datacamp.com/tutorial/k-nearest-neighbors-knn-classification-with-r-tutorial</a:t>
            </a:r>
            <a:r>
              <a:rPr lang="en-US" sz="18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524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853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1_Office Theme</vt:lpstr>
      <vt:lpstr>Modeling Invasive Carp Passage Risk in the Mississippi River</vt:lpstr>
      <vt:lpstr>Project Background</vt:lpstr>
      <vt:lpstr>About the Dataset</vt:lpstr>
      <vt:lpstr>Look into the Data</vt:lpstr>
      <vt:lpstr>Date Preparation</vt:lpstr>
      <vt:lpstr>Models Used in R for this Project</vt:lpstr>
      <vt:lpstr>Random Forest Setup</vt:lpstr>
      <vt:lpstr>Random Forest Output</vt:lpstr>
      <vt:lpstr>Random Forest Conclusions</vt:lpstr>
      <vt:lpstr>Gradient Boosting Setup</vt:lpstr>
      <vt:lpstr>Gradient Boosting Output</vt:lpstr>
      <vt:lpstr>Gradient Boosting Output</vt:lpstr>
      <vt:lpstr>Gradient Boosting Conclusions</vt:lpstr>
      <vt:lpstr>K Nearest Neighbors Setup</vt:lpstr>
      <vt:lpstr>K Nearest Neighbors Output</vt:lpstr>
      <vt:lpstr>K Nearest Neighbors Conclusions</vt:lpstr>
      <vt:lpstr> Final Insights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H. Bush</dc:creator>
  <cp:lastModifiedBy>Caleb H. Bush</cp:lastModifiedBy>
  <cp:revision>5</cp:revision>
  <dcterms:created xsi:type="dcterms:W3CDTF">2026-01-19T15:02:19Z</dcterms:created>
  <dcterms:modified xsi:type="dcterms:W3CDTF">2026-04-26T19:12:21Z</dcterms:modified>
</cp:coreProperties>
</file>